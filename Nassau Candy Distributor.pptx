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68" r:id="rId14"/>
    <p:sldId id="269" r:id="rId15"/>
    <p:sldId id="273" r:id="rId16"/>
    <p:sldId id="274" r:id="rId17"/>
    <p:sldId id="275" r:id="rId18"/>
    <p:sldId id="276" r:id="rId19"/>
    <p:sldId id="277" r:id="rId20"/>
    <p:sldId id="278" r:id="rId21"/>
    <p:sldId id="279" r:id="rId22"/>
    <p:sldId id="280" r:id="rId23"/>
    <p:sldId id="281" r:id="rId24"/>
    <p:sldId id="282" r:id="rId25"/>
    <p:sldId id="283"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81" d="100"/>
          <a:sy n="81" d="100"/>
        </p:scale>
        <p:origin x="754"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DE10EF-37BA-D4DD-76C6-7820AAE968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C3C1C85-7345-9BE7-EFFF-B0A902540A9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A254B5B-9F8F-282B-8314-98D874BF2731}"/>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5" name="Footer Placeholder 4">
            <a:extLst>
              <a:ext uri="{FF2B5EF4-FFF2-40B4-BE49-F238E27FC236}">
                <a16:creationId xmlns:a16="http://schemas.microsoft.com/office/drawing/2014/main" id="{0522B8B7-03BD-51A3-4A3D-A9DA8E3571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A1DD01-A59F-4F73-9715-8B02CB9FD2B3}"/>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1588975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6BA2-BA00-74CA-FEA7-CCD9821B02F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80215A4-7D63-18CC-7008-3FA4FEA5738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3F6010-3B1F-E4BD-FD5D-1ED5C5D7BBDE}"/>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5" name="Footer Placeholder 4">
            <a:extLst>
              <a:ext uri="{FF2B5EF4-FFF2-40B4-BE49-F238E27FC236}">
                <a16:creationId xmlns:a16="http://schemas.microsoft.com/office/drawing/2014/main" id="{A2DB2A90-EE21-DFA0-3704-9ECB00EC039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3E599-291D-CB1F-321D-1A8E8812B349}"/>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6435299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E98AB4-F6AD-1B30-4D89-36050F02E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8CE38FA-EC08-97E9-80B6-6B5ECAB90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534D0BF-8D41-C7A9-1ADF-8B271829B52C}"/>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5" name="Footer Placeholder 4">
            <a:extLst>
              <a:ext uri="{FF2B5EF4-FFF2-40B4-BE49-F238E27FC236}">
                <a16:creationId xmlns:a16="http://schemas.microsoft.com/office/drawing/2014/main" id="{B4FB2411-8F94-7A5C-EBDE-494BFA060B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B4773C-9AFB-9D5A-3488-6860E6523975}"/>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6334583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11B35-5FD5-680B-5AF8-68D829BFA31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4F44AB3-DA62-FE14-F181-A166578DA9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8CA0BC2-1B9D-F6CB-0089-CB894E8F4F4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3A00D98-7813-43CF-6007-D8D41749B629}"/>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6" name="Footer Placeholder 5">
            <a:extLst>
              <a:ext uri="{FF2B5EF4-FFF2-40B4-BE49-F238E27FC236}">
                <a16:creationId xmlns:a16="http://schemas.microsoft.com/office/drawing/2014/main" id="{B31F4F33-12EC-FA69-7F27-34D87C0B374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21D0289-4ED0-203E-9353-113B8FA970EC}"/>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3119512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DA1A09-F15B-4DF1-B050-22E1EA1B184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12E7851-B8A6-5B99-5DE3-FB88AEE3AB1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701DC6C-AA09-DAB1-2352-980AEC3E403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5F7B225-0CD4-E6DF-5373-EF317EE64D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156AAE-0F7D-E914-78B4-106B5B84235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6995FA7-B957-8AE3-C86B-80951E3D9EA0}"/>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8" name="Footer Placeholder 7">
            <a:extLst>
              <a:ext uri="{FF2B5EF4-FFF2-40B4-BE49-F238E27FC236}">
                <a16:creationId xmlns:a16="http://schemas.microsoft.com/office/drawing/2014/main" id="{6C3DF585-3C69-36DC-9851-66583599A6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5CCE327-18AB-81C7-75C3-873C3D9F2156}"/>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17211873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F71206-48B7-D7F8-4F7F-1AFEC2C4668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BAEC97-14BD-D122-D924-A6F7C51E2DEE}"/>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4" name="Footer Placeholder 3">
            <a:extLst>
              <a:ext uri="{FF2B5EF4-FFF2-40B4-BE49-F238E27FC236}">
                <a16:creationId xmlns:a16="http://schemas.microsoft.com/office/drawing/2014/main" id="{74F89D82-C3A2-C909-2B12-EFA278A5B0A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89030E5-BEAB-6F44-D0E5-F51B0F1EB35B}"/>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42895959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8BCBB65-719E-F33F-B46D-E4A65007C079}"/>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3" name="Footer Placeholder 2">
            <a:extLst>
              <a:ext uri="{FF2B5EF4-FFF2-40B4-BE49-F238E27FC236}">
                <a16:creationId xmlns:a16="http://schemas.microsoft.com/office/drawing/2014/main" id="{E8A6588E-E955-3937-0ECD-5E98DF9E1B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0495FC-232E-BE96-2B98-61870CB52F31}"/>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3817047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F03FCE-F521-8327-49E1-B2ABD0B86DB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CB1D4E8-7883-7F78-A913-39B68E443C0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5E3ADAD-D9AA-647A-F663-C6AD566C64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DF5AD32-AF59-635D-62B4-7245D5CEE9B1}"/>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6" name="Footer Placeholder 5">
            <a:extLst>
              <a:ext uri="{FF2B5EF4-FFF2-40B4-BE49-F238E27FC236}">
                <a16:creationId xmlns:a16="http://schemas.microsoft.com/office/drawing/2014/main" id="{B996986F-12B3-62E9-6B38-2C174A34C27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23CC35-6221-6967-C7EB-5D0CB8FB6173}"/>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1548337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43B75-6483-E527-85C1-1139DA8EF4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24477B7-BB96-0C02-F233-A0394EBFB5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D9DB7E-90D2-EA29-AE5F-124392052A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EE6EE38-7331-90FF-0E52-893ADE03085B}"/>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6" name="Footer Placeholder 5">
            <a:extLst>
              <a:ext uri="{FF2B5EF4-FFF2-40B4-BE49-F238E27FC236}">
                <a16:creationId xmlns:a16="http://schemas.microsoft.com/office/drawing/2014/main" id="{6E2F3F43-BE89-AC59-7CEF-14AED56C7EC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4FFE03-8A4B-270B-3A69-67D6EC311E8B}"/>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2584995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D56356-CB8F-016D-47DD-1CC5079D06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89E490-231A-2953-D9F9-8D6EB883BF3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7AA52-FBB6-E077-BFB6-F37F5B8A0AC0}"/>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5" name="Footer Placeholder 4">
            <a:extLst>
              <a:ext uri="{FF2B5EF4-FFF2-40B4-BE49-F238E27FC236}">
                <a16:creationId xmlns:a16="http://schemas.microsoft.com/office/drawing/2014/main" id="{FD9220A2-FCA0-E539-9592-59D4110711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ED1999-48D8-2648-DA18-3D59A4E3BC13}"/>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8736395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DD43A29-5137-7D68-3B48-055AFA5ACDD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5DB55D9-6505-760F-0FC3-63E1F7F5FA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017C455-2396-7921-544C-040A9DC2992A}"/>
              </a:ext>
            </a:extLst>
          </p:cNvPr>
          <p:cNvSpPr>
            <a:spLocks noGrp="1"/>
          </p:cNvSpPr>
          <p:nvPr>
            <p:ph type="dt" sz="half" idx="10"/>
          </p:nvPr>
        </p:nvSpPr>
        <p:spPr/>
        <p:txBody>
          <a:bodyPr/>
          <a:lstStyle/>
          <a:p>
            <a:fld id="{E5D42C81-E0A8-4C55-9C97-417152E18FF3}" type="datetimeFigureOut">
              <a:rPr lang="en-US" smtClean="0"/>
              <a:t>4/24/2026</a:t>
            </a:fld>
            <a:endParaRPr lang="en-US"/>
          </a:p>
        </p:txBody>
      </p:sp>
      <p:sp>
        <p:nvSpPr>
          <p:cNvPr id="5" name="Footer Placeholder 4">
            <a:extLst>
              <a:ext uri="{FF2B5EF4-FFF2-40B4-BE49-F238E27FC236}">
                <a16:creationId xmlns:a16="http://schemas.microsoft.com/office/drawing/2014/main" id="{BAD92269-EB29-D6ED-C8DA-EF90DE7808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A7C839-C79C-068A-22B8-EF5C3BD76BAF}"/>
              </a:ext>
            </a:extLst>
          </p:cNvPr>
          <p:cNvSpPr>
            <a:spLocks noGrp="1"/>
          </p:cNvSpPr>
          <p:nvPr>
            <p:ph type="sldNum" sz="quarter" idx="12"/>
          </p:nvPr>
        </p:nvSpPr>
        <p:spPr/>
        <p:txBody>
          <a:bodyPr/>
          <a:lstStyle/>
          <a:p>
            <a:fld id="{764A2D59-7510-46E5-AADE-25DC5091AF6A}" type="slidenum">
              <a:rPr lang="en-US" smtClean="0"/>
              <a:t>‹#›</a:t>
            </a:fld>
            <a:endParaRPr lang="en-US"/>
          </a:p>
        </p:txBody>
      </p:sp>
    </p:spTree>
    <p:extLst>
      <p:ext uri="{BB962C8B-B14F-4D97-AF65-F5344CB8AC3E}">
        <p14:creationId xmlns:p14="http://schemas.microsoft.com/office/powerpoint/2010/main" val="3774576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831F1D-D7C7-468E-E5E3-229E26358F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24C37A-9945-DD42-987A-7488E6FE01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523464C-4269-002D-A9F2-DF83C0402F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5D42C81-E0A8-4C55-9C97-417152E18FF3}" type="datetimeFigureOut">
              <a:rPr lang="en-US" smtClean="0"/>
              <a:t>4/24/2026</a:t>
            </a:fld>
            <a:endParaRPr lang="en-US"/>
          </a:p>
        </p:txBody>
      </p:sp>
      <p:sp>
        <p:nvSpPr>
          <p:cNvPr id="5" name="Footer Placeholder 4">
            <a:extLst>
              <a:ext uri="{FF2B5EF4-FFF2-40B4-BE49-F238E27FC236}">
                <a16:creationId xmlns:a16="http://schemas.microsoft.com/office/drawing/2014/main" id="{70BD61BD-68EE-0E76-DE75-549AC6C2D2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36C1F0-901B-3127-0BF6-B585FC0695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4A2D59-7510-46E5-AADE-25DC5091AF6A}" type="slidenum">
              <a:rPr lang="en-US" smtClean="0"/>
              <a:t>‹#›</a:t>
            </a:fld>
            <a:endParaRPr lang="en-US"/>
          </a:p>
        </p:txBody>
      </p:sp>
    </p:spTree>
    <p:extLst>
      <p:ext uri="{BB962C8B-B14F-4D97-AF65-F5344CB8AC3E}">
        <p14:creationId xmlns:p14="http://schemas.microsoft.com/office/powerpoint/2010/main" val="7596400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A11BF-4916-906B-472B-87BD7B7201AD}"/>
              </a:ext>
            </a:extLst>
          </p:cNvPr>
          <p:cNvSpPr>
            <a:spLocks noGrp="1"/>
          </p:cNvSpPr>
          <p:nvPr>
            <p:ph type="ctrTitle"/>
          </p:nvPr>
        </p:nvSpPr>
        <p:spPr>
          <a:xfrm>
            <a:off x="1524000" y="970961"/>
            <a:ext cx="9144000" cy="2026763"/>
          </a:xfrm>
        </p:spPr>
        <p:style>
          <a:lnRef idx="2">
            <a:schemeClr val="accent1"/>
          </a:lnRef>
          <a:fillRef idx="1">
            <a:schemeClr val="lt1"/>
          </a:fillRef>
          <a:effectRef idx="0">
            <a:schemeClr val="accent1"/>
          </a:effectRef>
          <a:fontRef idx="minor">
            <a:schemeClr val="dk1"/>
          </a:fontRef>
        </p:style>
        <p:txBody>
          <a:bodyPr/>
          <a:lstStyle/>
          <a:p>
            <a:r>
              <a:rPr lang="en-US" b="1" dirty="0"/>
              <a:t>Nassau Candy Distributor</a:t>
            </a:r>
            <a:br>
              <a:rPr lang="en-US" b="1" dirty="0"/>
            </a:br>
            <a:endParaRPr lang="en-US" dirty="0"/>
          </a:p>
        </p:txBody>
      </p:sp>
      <p:sp>
        <p:nvSpPr>
          <p:cNvPr id="3" name="Subtitle 2">
            <a:extLst>
              <a:ext uri="{FF2B5EF4-FFF2-40B4-BE49-F238E27FC236}">
                <a16:creationId xmlns:a16="http://schemas.microsoft.com/office/drawing/2014/main" id="{DD524E56-6E8C-C9A2-45DA-A80AA15B9D0C}"/>
              </a:ext>
            </a:extLst>
          </p:cNvPr>
          <p:cNvSpPr>
            <a:spLocks noGrp="1"/>
          </p:cNvSpPr>
          <p:nvPr>
            <p:ph type="subTitle" idx="1"/>
          </p:nvPr>
        </p:nvSpPr>
        <p:spPr/>
        <p:txBody>
          <a:bodyPr/>
          <a:lstStyle/>
          <a:p>
            <a:r>
              <a:rPr lang="en-US" sz="4800" b="1" dirty="0"/>
              <a:t>Product Line Profitability &amp; Margin Performance Analysis</a:t>
            </a:r>
          </a:p>
          <a:p>
            <a:endParaRPr lang="en-US" dirty="0"/>
          </a:p>
        </p:txBody>
      </p:sp>
    </p:spTree>
    <p:extLst>
      <p:ext uri="{BB962C8B-B14F-4D97-AF65-F5344CB8AC3E}">
        <p14:creationId xmlns:p14="http://schemas.microsoft.com/office/powerpoint/2010/main" val="38012145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3DAEB42-78A8-73D8-83C6-2B3ACC00813D}"/>
              </a:ext>
            </a:extLst>
          </p:cNvPr>
          <p:cNvSpPr txBox="1"/>
          <p:nvPr/>
        </p:nvSpPr>
        <p:spPr>
          <a:xfrm>
            <a:off x="3384223" y="1291472"/>
            <a:ext cx="4666268" cy="2585323"/>
          </a:xfrm>
          <a:prstGeom prst="rect">
            <a:avLst/>
          </a:prstGeom>
          <a:noFill/>
        </p:spPr>
        <p:txBody>
          <a:bodyPr wrap="square">
            <a:spAutoFit/>
          </a:bodyPr>
          <a:lstStyle/>
          <a:p>
            <a:r>
              <a:rPr lang="en-US" sz="5400" b="1" i="1" u="sng" dirty="0"/>
              <a:t>Insights and Methodology Justification</a:t>
            </a:r>
            <a:endParaRPr lang="en-US" sz="5400" i="1" u="sng" dirty="0"/>
          </a:p>
        </p:txBody>
      </p:sp>
    </p:spTree>
    <p:extLst>
      <p:ext uri="{BB962C8B-B14F-4D97-AF65-F5344CB8AC3E}">
        <p14:creationId xmlns:p14="http://schemas.microsoft.com/office/powerpoint/2010/main" val="20498815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C2904-FCF7-B8AE-6DB4-5A07C59C64E9}"/>
              </a:ext>
            </a:extLst>
          </p:cNvPr>
          <p:cNvSpPr>
            <a:spLocks noGrp="1"/>
          </p:cNvSpPr>
          <p:nvPr>
            <p:ph type="title"/>
          </p:nvPr>
        </p:nvSpPr>
        <p:spPr/>
        <p:txBody>
          <a:bodyPr>
            <a:normAutofit fontScale="90000"/>
          </a:bodyPr>
          <a:lstStyle/>
          <a:p>
            <a:r>
              <a:rPr lang="en-US" sz="4800" b="1" i="1" u="sng" dirty="0">
                <a:effectLst>
                  <a:outerShdw blurRad="38100" dist="38100" dir="2700000" algn="tl">
                    <a:srgbClr val="000000">
                      <a:alpha val="43137"/>
                    </a:srgbClr>
                  </a:outerShdw>
                </a:effectLst>
              </a:rPr>
              <a:t>Analytical Methodology</a:t>
            </a:r>
            <a:br>
              <a:rPr lang="en-US" b="1" dirty="0"/>
            </a:br>
            <a:endParaRPr lang="en-US" dirty="0"/>
          </a:p>
        </p:txBody>
      </p:sp>
      <p:sp>
        <p:nvSpPr>
          <p:cNvPr id="3" name="Content Placeholder 2">
            <a:extLst>
              <a:ext uri="{FF2B5EF4-FFF2-40B4-BE49-F238E27FC236}">
                <a16:creationId xmlns:a16="http://schemas.microsoft.com/office/drawing/2014/main" id="{D9FA9AE1-AD2D-96B7-3450-D8A8DB6BBFCF}"/>
              </a:ext>
            </a:extLst>
          </p:cNvPr>
          <p:cNvSpPr>
            <a:spLocks noGrp="1"/>
          </p:cNvSpPr>
          <p:nvPr>
            <p:ph idx="1"/>
          </p:nvPr>
        </p:nvSpPr>
        <p:spPr>
          <a:xfrm>
            <a:off x="678730" y="1159497"/>
            <a:ext cx="10675070" cy="5017466"/>
          </a:xfrm>
        </p:spPr>
        <p:txBody>
          <a:bodyPr>
            <a:normAutofit fontScale="55000" lnSpcReduction="20000"/>
          </a:bodyPr>
          <a:lstStyle/>
          <a:p>
            <a:r>
              <a:rPr lang="en-US" sz="3600" b="1" i="1" u="sng" dirty="0"/>
              <a:t>Data Cleaning and Validation</a:t>
            </a:r>
          </a:p>
          <a:p>
            <a:r>
              <a:rPr lang="en-US" sz="2900" b="1" dirty="0"/>
              <a:t>The initial stage of the analysis focused on ensuring data accuracy, consistency, and reliability through a structured data cleaning and validation process. This step was critical, as the quality of insights derived from any analytical model is directly dependent on the integrity of the underlying dataset.</a:t>
            </a:r>
          </a:p>
          <a:p>
            <a:endParaRPr lang="en-US" sz="2900" b="1" dirty="0"/>
          </a:p>
          <a:p>
            <a:r>
              <a:rPr lang="en-US" sz="2900" b="1" dirty="0"/>
              <a:t>The dataset was examined for inconsistencies in key financial variables such as sales and cost. Records containing zero or negative sales values were identified as non-contributory or potentially erroneous and were removed to prevent distortion in profitability calculations. Similarly, abnormal cost values—particularly cases where cost exceeded sales—were flagged and reviewed to ensure they did not misrepresent operational efficiency.</a:t>
            </a:r>
          </a:p>
          <a:p>
            <a:endParaRPr lang="en-US" sz="2900" b="1" dirty="0"/>
          </a:p>
          <a:p>
            <a:r>
              <a:rPr lang="en-US" sz="2900" b="1" dirty="0"/>
              <a:t>In addition, missing values in the units column were addressed systematically. Since unit-based metrics such as profit per unit are essential for granular analysis, null or blank entries were either replaced with appropriate values or standardized to maintain computational consistency.</a:t>
            </a:r>
          </a:p>
          <a:p>
            <a:endParaRPr lang="en-US" sz="2900" b="1" dirty="0"/>
          </a:p>
          <a:p>
            <a:r>
              <a:rPr lang="en-US" sz="2900" b="1" dirty="0"/>
              <a:t>Categorical fields such as product names and division labels were standardized to eliminate inconsistencies arising from variations in text formatting, including differences in capitalization, spacing, and naming conventions. This step ensured accurate grouping, aggregation, and comparison across categories.</a:t>
            </a:r>
          </a:p>
          <a:p>
            <a:endParaRPr lang="en-US" sz="2900" b="1" dirty="0"/>
          </a:p>
          <a:p>
            <a:r>
              <a:rPr lang="en-US" sz="2900" b="1" dirty="0"/>
              <a:t>Overall, the data cleaning process ensured that the dataset was free from anomalies and inconsistencies, thereby establishing a reliable foundation for subsequent analysis. All steps were executed in accordance with the prescribed data validation framework, ensuring methodological rigor and analytical accuracy.</a:t>
            </a:r>
          </a:p>
          <a:p>
            <a:endParaRPr lang="en-US" sz="2900" b="1" dirty="0"/>
          </a:p>
          <a:p>
            <a:endParaRPr lang="en-US" sz="2400" b="1" dirty="0"/>
          </a:p>
        </p:txBody>
      </p:sp>
    </p:spTree>
    <p:extLst>
      <p:ext uri="{BB962C8B-B14F-4D97-AF65-F5344CB8AC3E}">
        <p14:creationId xmlns:p14="http://schemas.microsoft.com/office/powerpoint/2010/main" val="428367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EDF95-92A1-1B8E-6EA6-B6427C0DE1FB}"/>
              </a:ext>
            </a:extLst>
          </p:cNvPr>
          <p:cNvSpPr>
            <a:spLocks noGrp="1"/>
          </p:cNvSpPr>
          <p:nvPr>
            <p:ph type="title"/>
          </p:nvPr>
        </p:nvSpPr>
        <p:spPr/>
        <p:txBody>
          <a:bodyPr/>
          <a:lstStyle/>
          <a:p>
            <a:r>
              <a:rPr lang="en-US" dirty="0"/>
              <a:t> </a:t>
            </a:r>
            <a:r>
              <a:rPr lang="en-US" b="1" i="1" u="sng" dirty="0"/>
              <a:t>Product-Level Profitability Analysis</a:t>
            </a:r>
            <a:br>
              <a:rPr lang="en-US" sz="2000" dirty="0"/>
            </a:br>
            <a:endParaRPr lang="en-US" sz="2000" dirty="0"/>
          </a:p>
        </p:txBody>
      </p:sp>
      <p:sp>
        <p:nvSpPr>
          <p:cNvPr id="3" name="Content Placeholder 2">
            <a:extLst>
              <a:ext uri="{FF2B5EF4-FFF2-40B4-BE49-F238E27FC236}">
                <a16:creationId xmlns:a16="http://schemas.microsoft.com/office/drawing/2014/main" id="{4EE82FBA-87C5-EB91-11FC-D9E51BB96952}"/>
              </a:ext>
            </a:extLst>
          </p:cNvPr>
          <p:cNvSpPr>
            <a:spLocks noGrp="1"/>
          </p:cNvSpPr>
          <p:nvPr>
            <p:ph idx="1"/>
          </p:nvPr>
        </p:nvSpPr>
        <p:spPr>
          <a:xfrm>
            <a:off x="838200" y="1395167"/>
            <a:ext cx="10515600" cy="4781796"/>
          </a:xfrm>
        </p:spPr>
        <p:txBody>
          <a:bodyPr>
            <a:normAutofit fontScale="70000" lnSpcReduction="20000"/>
          </a:bodyPr>
          <a:lstStyle/>
          <a:p>
            <a:r>
              <a:rPr lang="en-US" b="1" i="1" dirty="0"/>
              <a:t>Following data preparation, a detailed product-level profitability analysis was conducted to identify key contributors to overall financial performance. Products were evaluated using core metrics such as gross profit and gross margin percentage.</a:t>
            </a:r>
          </a:p>
          <a:p>
            <a:endParaRPr lang="en-US" b="1" i="1" dirty="0"/>
          </a:p>
          <a:p>
            <a:r>
              <a:rPr lang="en-US" b="1" i="1" dirty="0"/>
              <a:t>The analysis revealed a clear disparity in product performance. A limited number of products were found to generate a disproportionately high share of total profit, while several others, despite recording high sales volumes, exhibited relatively low margins. This indicates that high revenue does not necessarily translate into high profitability.</a:t>
            </a:r>
          </a:p>
          <a:p>
            <a:endParaRPr lang="en-US" b="1" i="1" dirty="0"/>
          </a:p>
          <a:p>
            <a:r>
              <a:rPr lang="en-US" b="1" i="1" dirty="0"/>
              <a:t>Furthermore, certain products were identified as low-performing, contributing minimally to both revenue and profit. These findings highlight inefficiencies within the product portfolio and suggest the need for strategic intervention in pricing, cost management, and product positioning.</a:t>
            </a:r>
          </a:p>
          <a:p>
            <a:endParaRPr lang="en-US" b="1" i="1" dirty="0"/>
          </a:p>
          <a:p>
            <a:r>
              <a:rPr lang="en-US" b="1" i="1" dirty="0"/>
              <a:t>The ranking and classification of products were carried out strictly in accordance with the prescribed analytical methodology, ensuring that performance evaluation was both systematic and data-driven.</a:t>
            </a:r>
          </a:p>
          <a:p>
            <a:endParaRPr lang="en-US" dirty="0"/>
          </a:p>
        </p:txBody>
      </p:sp>
    </p:spTree>
    <p:extLst>
      <p:ext uri="{BB962C8B-B14F-4D97-AF65-F5344CB8AC3E}">
        <p14:creationId xmlns:p14="http://schemas.microsoft.com/office/powerpoint/2010/main" val="26306970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01E3F-5172-8733-001B-3D19BA7F4AFF}"/>
              </a:ext>
            </a:extLst>
          </p:cNvPr>
          <p:cNvSpPr>
            <a:spLocks noGrp="1"/>
          </p:cNvSpPr>
          <p:nvPr>
            <p:ph type="title"/>
          </p:nvPr>
        </p:nvSpPr>
        <p:spPr>
          <a:xfrm>
            <a:off x="838200" y="365126"/>
            <a:ext cx="10515600" cy="1199724"/>
          </a:xfrm>
        </p:spPr>
        <p:txBody>
          <a:bodyPr>
            <a:normAutofit fontScale="90000"/>
          </a:bodyPr>
          <a:lstStyle/>
          <a:p>
            <a:r>
              <a:rPr lang="en-US" b="1" i="1" dirty="0"/>
              <a:t>Division-Level Performance Analysis</a:t>
            </a:r>
            <a:br>
              <a:rPr lang="en-US" b="1" i="1" dirty="0"/>
            </a:br>
            <a:endParaRPr lang="en-US" b="1" i="1" dirty="0"/>
          </a:p>
        </p:txBody>
      </p:sp>
      <p:sp>
        <p:nvSpPr>
          <p:cNvPr id="3" name="Content Placeholder 2">
            <a:extLst>
              <a:ext uri="{FF2B5EF4-FFF2-40B4-BE49-F238E27FC236}">
                <a16:creationId xmlns:a16="http://schemas.microsoft.com/office/drawing/2014/main" id="{3A784C10-04CA-78B1-1B76-1D3796869344}"/>
              </a:ext>
            </a:extLst>
          </p:cNvPr>
          <p:cNvSpPr>
            <a:spLocks noGrp="1"/>
          </p:cNvSpPr>
          <p:nvPr>
            <p:ph idx="1"/>
          </p:nvPr>
        </p:nvSpPr>
        <p:spPr>
          <a:xfrm>
            <a:off x="838200" y="1159497"/>
            <a:ext cx="10515600" cy="5017466"/>
          </a:xfrm>
        </p:spPr>
        <p:txBody>
          <a:bodyPr>
            <a:normAutofit fontScale="77500" lnSpcReduction="20000"/>
          </a:bodyPr>
          <a:lstStyle/>
          <a:p>
            <a:r>
              <a:rPr lang="en-US" b="1" i="1" dirty="0"/>
              <a:t>To gain a broader organizational perspective, profitability metrics were aggregated at the division level. This analysis aimed to evaluate the financial efficiency of different product divisions and identify structural variations in performance.</a:t>
            </a:r>
          </a:p>
          <a:p>
            <a:endParaRPr lang="en-US" b="1" i="1" dirty="0"/>
          </a:p>
          <a:p>
            <a:r>
              <a:rPr lang="en-US" b="1" i="1" dirty="0"/>
              <a:t>The results indicate significant differences in margin performance across divisions. Some divisions demonstrated strong profitability and efficient cost management, while others showed lower margins despite generating substantial revenue. This imbalance suggests that certain divisions may be operating with suboptimal pricing strategies or higher cost structures.</a:t>
            </a:r>
          </a:p>
          <a:p>
            <a:endParaRPr lang="en-US" b="1" i="1" dirty="0"/>
          </a:p>
          <a:p>
            <a:r>
              <a:rPr lang="en-US" b="1" i="1" dirty="0"/>
              <a:t>The division-level comparison provides valuable insights into resource allocation and strategic prioritization. It highlights the need for tailored approaches rather than a uniform strategy across all divisions.</a:t>
            </a:r>
          </a:p>
          <a:p>
            <a:endParaRPr lang="en-US" b="1" i="1" dirty="0"/>
          </a:p>
          <a:p>
            <a:r>
              <a:rPr lang="en-US" b="1" i="1" dirty="0"/>
              <a:t>This analysis was conducted in alignment with the prescribed framework, ensuring that both revenue and profit dimensions were considered in evaluating division performance.</a:t>
            </a:r>
          </a:p>
          <a:p>
            <a:endParaRPr lang="en-US" dirty="0"/>
          </a:p>
        </p:txBody>
      </p:sp>
    </p:spTree>
    <p:extLst>
      <p:ext uri="{BB962C8B-B14F-4D97-AF65-F5344CB8AC3E}">
        <p14:creationId xmlns:p14="http://schemas.microsoft.com/office/powerpoint/2010/main" val="29549768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7A76EE-CA62-50EC-A729-279330F0039B}"/>
              </a:ext>
            </a:extLst>
          </p:cNvPr>
          <p:cNvSpPr>
            <a:spLocks noGrp="1"/>
          </p:cNvSpPr>
          <p:nvPr>
            <p:ph type="title"/>
          </p:nvPr>
        </p:nvSpPr>
        <p:spPr>
          <a:xfrm>
            <a:off x="914400" y="365125"/>
            <a:ext cx="10439400" cy="898067"/>
          </a:xfrm>
        </p:spPr>
        <p:txBody>
          <a:bodyPr/>
          <a:lstStyle/>
          <a:p>
            <a:r>
              <a:rPr lang="en-US" b="1" i="1" dirty="0"/>
              <a:t>Cost vs Margin Diagnostics</a:t>
            </a:r>
            <a:endParaRPr lang="en-US" dirty="0"/>
          </a:p>
        </p:txBody>
      </p:sp>
      <p:sp>
        <p:nvSpPr>
          <p:cNvPr id="3" name="Content Placeholder 2">
            <a:extLst>
              <a:ext uri="{FF2B5EF4-FFF2-40B4-BE49-F238E27FC236}">
                <a16:creationId xmlns:a16="http://schemas.microsoft.com/office/drawing/2014/main" id="{E0D067EF-300E-EBA5-6ADF-A23DC625F883}"/>
              </a:ext>
            </a:extLst>
          </p:cNvPr>
          <p:cNvSpPr>
            <a:spLocks noGrp="1"/>
          </p:cNvSpPr>
          <p:nvPr>
            <p:ph idx="1"/>
          </p:nvPr>
        </p:nvSpPr>
        <p:spPr>
          <a:xfrm>
            <a:off x="838200" y="1168924"/>
            <a:ext cx="10515600" cy="5008039"/>
          </a:xfrm>
        </p:spPr>
        <p:txBody>
          <a:bodyPr>
            <a:normAutofit fontScale="77500" lnSpcReduction="20000"/>
          </a:bodyPr>
          <a:lstStyle/>
          <a:p>
            <a:r>
              <a:rPr lang="en-US" b="1" i="1" dirty="0"/>
              <a:t>A cost-versus-sales diagnostic analysis was performed to examine the relationship between production cost and revenue generation. This step was essential for identifying inefficiencies in cost structures and pricing strategies.</a:t>
            </a:r>
          </a:p>
          <a:p>
            <a:endParaRPr lang="en-US" b="1" i="1" dirty="0"/>
          </a:p>
          <a:p>
            <a:r>
              <a:rPr lang="en-US" b="1" i="1" dirty="0"/>
              <a:t>The analysis revealed the presence of products that incur relatively high costs while generating limited profit. These cost-heavy, margin-poor products represent inefficiencies within the portfolio and may require corrective action such as cost reduction, supplier renegotiation, or pricing adjustments.</a:t>
            </a:r>
          </a:p>
          <a:p>
            <a:endParaRPr lang="en-US" b="1" i="1" dirty="0"/>
          </a:p>
          <a:p>
            <a:r>
              <a:rPr lang="en-US" b="1" i="1" dirty="0"/>
              <a:t>Additionally, the diagnostic approach helped identify products with favorable cost-to-revenue ratios, which can be considered financially efficient and strategically valuable.</a:t>
            </a:r>
          </a:p>
          <a:p>
            <a:endParaRPr lang="en-US" b="1" i="1" dirty="0"/>
          </a:p>
          <a:p>
            <a:r>
              <a:rPr lang="en-US" b="1" i="1" dirty="0"/>
              <a:t>By visualizing cost and sales relationships, this step enabled the identification of hidden inefficiencies that are not immediately apparent through traditional tabular analysis. The methodology followed aligns with the prescribed cost diagnostic framework and supports informed decision-making.</a:t>
            </a:r>
          </a:p>
          <a:p>
            <a:endParaRPr lang="en-US" dirty="0"/>
          </a:p>
        </p:txBody>
      </p:sp>
    </p:spTree>
    <p:extLst>
      <p:ext uri="{BB962C8B-B14F-4D97-AF65-F5344CB8AC3E}">
        <p14:creationId xmlns:p14="http://schemas.microsoft.com/office/powerpoint/2010/main" val="1956505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93622D-AFBF-6717-F501-9124C6CE8E4E}"/>
              </a:ext>
            </a:extLst>
          </p:cNvPr>
          <p:cNvSpPr>
            <a:spLocks noGrp="1"/>
          </p:cNvSpPr>
          <p:nvPr>
            <p:ph type="title"/>
          </p:nvPr>
        </p:nvSpPr>
        <p:spPr>
          <a:xfrm>
            <a:off x="952106" y="365125"/>
            <a:ext cx="10401693" cy="1011188"/>
          </a:xfrm>
        </p:spPr>
        <p:txBody>
          <a:bodyPr>
            <a:normAutofit fontScale="90000"/>
          </a:bodyPr>
          <a:lstStyle/>
          <a:p>
            <a:r>
              <a:rPr lang="en-US" dirty="0"/>
              <a:t> </a:t>
            </a:r>
            <a:r>
              <a:rPr lang="en-US" b="1" i="1" u="sng" dirty="0"/>
              <a:t>Profit Concentration Analysis</a:t>
            </a:r>
            <a:br>
              <a:rPr lang="en-US" dirty="0"/>
            </a:br>
            <a:endParaRPr lang="en-US" dirty="0"/>
          </a:p>
        </p:txBody>
      </p:sp>
      <p:sp>
        <p:nvSpPr>
          <p:cNvPr id="3" name="Content Placeholder 2">
            <a:extLst>
              <a:ext uri="{FF2B5EF4-FFF2-40B4-BE49-F238E27FC236}">
                <a16:creationId xmlns:a16="http://schemas.microsoft.com/office/drawing/2014/main" id="{E6B56726-772E-94EF-B88B-B775E9ED66AA}"/>
              </a:ext>
            </a:extLst>
          </p:cNvPr>
          <p:cNvSpPr>
            <a:spLocks noGrp="1"/>
          </p:cNvSpPr>
          <p:nvPr>
            <p:ph idx="1"/>
          </p:nvPr>
        </p:nvSpPr>
        <p:spPr>
          <a:xfrm>
            <a:off x="754144" y="989814"/>
            <a:ext cx="10599656" cy="4817097"/>
          </a:xfrm>
        </p:spPr>
        <p:txBody>
          <a:bodyPr>
            <a:normAutofit fontScale="77500" lnSpcReduction="20000"/>
          </a:bodyPr>
          <a:lstStyle/>
          <a:p>
            <a:r>
              <a:rPr lang="en-US" b="1" i="1" dirty="0"/>
              <a:t>A key component of the analysis involved evaluating the concentration of profit across products using cumulative contribution techniques. The results clearly demonstrate that a significant portion of total profit is generated by a relatively small subset of products.</a:t>
            </a:r>
          </a:p>
          <a:p>
            <a:endParaRPr lang="en-US" b="1" i="1" dirty="0"/>
          </a:p>
          <a:p>
            <a:r>
              <a:rPr lang="en-US" b="1" i="1" dirty="0"/>
              <a:t>This distribution aligns with the widely recognized Pareto Principle, which suggests that a minority of inputs often account for the majority of outputs. In this context, it was observed that approximately 70–80% of total profit originates from a limited number of products.</a:t>
            </a:r>
          </a:p>
          <a:p>
            <a:endParaRPr lang="en-US" b="1" i="1" dirty="0"/>
          </a:p>
          <a:p>
            <a:r>
              <a:rPr lang="en-US" b="1" i="1" dirty="0"/>
              <a:t>While this highlights the importance of high-performing products, it also reveals a structural concentration that may pose risks if not managed effectively. The analysis provides a clear understanding of which products serve as primary profit drivers and which contribute marginally.</a:t>
            </a:r>
          </a:p>
          <a:p>
            <a:endParaRPr lang="en-US" b="1" i="1" dirty="0"/>
          </a:p>
          <a:p>
            <a:r>
              <a:rPr lang="en-US" b="1" i="1" dirty="0"/>
              <a:t>The implementation of cumulative profit analysis was carried out as prescribed, ensuring accurate representation of profit distribution across the product portfolio.</a:t>
            </a:r>
          </a:p>
          <a:p>
            <a:endParaRPr lang="en-US" dirty="0"/>
          </a:p>
        </p:txBody>
      </p:sp>
    </p:spTree>
    <p:extLst>
      <p:ext uri="{BB962C8B-B14F-4D97-AF65-F5344CB8AC3E}">
        <p14:creationId xmlns:p14="http://schemas.microsoft.com/office/powerpoint/2010/main" val="42551680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483C29-AD26-CD44-6888-664082AB9FAF}"/>
              </a:ext>
            </a:extLst>
          </p:cNvPr>
          <p:cNvSpPr>
            <a:spLocks noGrp="1"/>
          </p:cNvSpPr>
          <p:nvPr>
            <p:ph type="title"/>
          </p:nvPr>
        </p:nvSpPr>
        <p:spPr/>
        <p:txBody>
          <a:bodyPr/>
          <a:lstStyle/>
          <a:p>
            <a:r>
              <a:rPr lang="en-US" b="1" i="1" u="sng" dirty="0"/>
              <a:t>Dependency Indicator Analysis</a:t>
            </a:r>
            <a:br>
              <a:rPr lang="en-US" dirty="0"/>
            </a:br>
            <a:endParaRPr lang="en-US" dirty="0"/>
          </a:p>
        </p:txBody>
      </p:sp>
      <p:sp>
        <p:nvSpPr>
          <p:cNvPr id="3" name="Content Placeholder 2">
            <a:extLst>
              <a:ext uri="{FF2B5EF4-FFF2-40B4-BE49-F238E27FC236}">
                <a16:creationId xmlns:a16="http://schemas.microsoft.com/office/drawing/2014/main" id="{FA19AC6A-3331-9CF6-A793-57561F1D8C53}"/>
              </a:ext>
            </a:extLst>
          </p:cNvPr>
          <p:cNvSpPr>
            <a:spLocks noGrp="1"/>
          </p:cNvSpPr>
          <p:nvPr>
            <p:ph idx="1"/>
          </p:nvPr>
        </p:nvSpPr>
        <p:spPr>
          <a:xfrm>
            <a:off x="688157" y="1102936"/>
            <a:ext cx="10665643" cy="5074027"/>
          </a:xfrm>
        </p:spPr>
        <p:txBody>
          <a:bodyPr>
            <a:normAutofit fontScale="77500" lnSpcReduction="20000"/>
          </a:bodyPr>
          <a:lstStyle/>
          <a:p>
            <a:r>
              <a:rPr lang="en-US" b="1" i="1" dirty="0"/>
              <a:t>Building on the findings of profit concentration, a dependency indicator analysis was conducted to quantify the extent to which the organization relies on its top-performing products.</a:t>
            </a:r>
          </a:p>
          <a:p>
            <a:endParaRPr lang="en-US" b="1" i="1" dirty="0"/>
          </a:p>
          <a:p>
            <a:r>
              <a:rPr lang="en-US" b="1" i="1" dirty="0"/>
              <a:t>The results indicate a high level of dependency, with a small number of products contributing a substantial percentage of total profit. This concentration introduces a level of risk, as any adverse changes affecting these key products—such as demand fluctuations, supply chain disruptions, or competitive pressures—could significantly impact overall business performance.</a:t>
            </a:r>
          </a:p>
          <a:p>
            <a:endParaRPr lang="en-US" b="1" i="1" dirty="0"/>
          </a:p>
          <a:p>
            <a:r>
              <a:rPr lang="en-US" b="1" i="1" dirty="0"/>
              <a:t>The dependency indicator provides a quantitative measure of this risk and highlights the need for diversification within the product portfolio. Reducing reliance on a limited number of products can enhance business stability and resilience.</a:t>
            </a:r>
          </a:p>
          <a:p>
            <a:endParaRPr lang="en-US" b="1" i="1" dirty="0"/>
          </a:p>
          <a:p>
            <a:r>
              <a:rPr lang="en-US" b="1" i="1" dirty="0"/>
              <a:t>This analysis was performed in accordance with the prescribed methodology, using top-product contribution metrics to evaluate dependency risk.</a:t>
            </a:r>
          </a:p>
          <a:p>
            <a:endParaRPr lang="en-US" dirty="0"/>
          </a:p>
          <a:p>
            <a:endParaRPr lang="en-US" dirty="0"/>
          </a:p>
        </p:txBody>
      </p:sp>
    </p:spTree>
    <p:extLst>
      <p:ext uri="{BB962C8B-B14F-4D97-AF65-F5344CB8AC3E}">
        <p14:creationId xmlns:p14="http://schemas.microsoft.com/office/powerpoint/2010/main" val="9184376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D3F44-843A-887E-AC68-706AED5C4D8C}"/>
              </a:ext>
            </a:extLst>
          </p:cNvPr>
          <p:cNvSpPr>
            <a:spLocks noGrp="1"/>
          </p:cNvSpPr>
          <p:nvPr>
            <p:ph type="title"/>
          </p:nvPr>
        </p:nvSpPr>
        <p:spPr>
          <a:xfrm>
            <a:off x="716044" y="299139"/>
            <a:ext cx="10515600" cy="1228003"/>
          </a:xfrm>
        </p:spPr>
        <p:txBody>
          <a:bodyPr>
            <a:normAutofit/>
          </a:bodyPr>
          <a:lstStyle/>
          <a:p>
            <a:r>
              <a:rPr lang="en-US" sz="3200" b="1" dirty="0"/>
              <a:t>Key Performance Indicators (KPIs) </a:t>
            </a:r>
            <a:br>
              <a:rPr lang="en-US" dirty="0"/>
            </a:br>
            <a:r>
              <a:rPr lang="en-US" sz="1800" dirty="0"/>
              <a:t>The analysis strictly adhered to the prescribed KPI framework, ensuring that all critical financial and operational indicators were calculated and interpreted systematically.</a:t>
            </a:r>
          </a:p>
        </p:txBody>
      </p:sp>
      <p:sp>
        <p:nvSpPr>
          <p:cNvPr id="3" name="Content Placeholder 2">
            <a:extLst>
              <a:ext uri="{FF2B5EF4-FFF2-40B4-BE49-F238E27FC236}">
                <a16:creationId xmlns:a16="http://schemas.microsoft.com/office/drawing/2014/main" id="{73C719C1-6428-B410-D664-91FF293E0444}"/>
              </a:ext>
            </a:extLst>
          </p:cNvPr>
          <p:cNvSpPr>
            <a:spLocks noGrp="1"/>
          </p:cNvSpPr>
          <p:nvPr>
            <p:ph idx="1"/>
          </p:nvPr>
        </p:nvSpPr>
        <p:spPr>
          <a:xfrm>
            <a:off x="593889" y="1527142"/>
            <a:ext cx="10759911" cy="4649821"/>
          </a:xfrm>
        </p:spPr>
        <p:txBody>
          <a:bodyPr/>
          <a:lstStyle/>
          <a:p>
            <a:r>
              <a:rPr lang="en-US" b="1" dirty="0"/>
              <a:t>Gross Margin (%)</a:t>
            </a:r>
          </a:p>
          <a:p>
            <a:r>
              <a:rPr lang="en-US" dirty="0"/>
              <a:t>Gross Margin was computed as the ratio of gross profit to total sales, providing a direct measure of profitability efficiency. The analysis revealed that while certain products generated high revenue, their margin percentages were relatively low, indicating inefficiencies in pricing or cost structures. Conversely, some products demonstrated strong margins despite moderate sales, identifying them as high-value contributors.</a:t>
            </a:r>
          </a:p>
          <a:p>
            <a:r>
              <a:rPr lang="en-US" b="1" dirty="0"/>
              <a:t>Insight:</a:t>
            </a:r>
            <a:r>
              <a:rPr lang="en-US" dirty="0"/>
              <a:t> Profitability is not uniform across products; efficiency varies significantly.</a:t>
            </a:r>
          </a:p>
          <a:p>
            <a:endParaRPr lang="en-US" dirty="0"/>
          </a:p>
        </p:txBody>
      </p:sp>
    </p:spTree>
    <p:extLst>
      <p:ext uri="{BB962C8B-B14F-4D97-AF65-F5344CB8AC3E}">
        <p14:creationId xmlns:p14="http://schemas.microsoft.com/office/powerpoint/2010/main" val="2327228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3D1A2F-C34A-3F96-D950-2BF1CD2448A7}"/>
              </a:ext>
            </a:extLst>
          </p:cNvPr>
          <p:cNvSpPr>
            <a:spLocks noGrp="1"/>
          </p:cNvSpPr>
          <p:nvPr>
            <p:ph type="title"/>
          </p:nvPr>
        </p:nvSpPr>
        <p:spPr/>
        <p:txBody>
          <a:bodyPr/>
          <a:lstStyle/>
          <a:p>
            <a:r>
              <a:rPr lang="en-US" b="1" i="1" u="sng" dirty="0"/>
              <a:t>Profit per Unit</a:t>
            </a:r>
          </a:p>
        </p:txBody>
      </p:sp>
      <p:sp>
        <p:nvSpPr>
          <p:cNvPr id="3" name="Content Placeholder 2">
            <a:extLst>
              <a:ext uri="{FF2B5EF4-FFF2-40B4-BE49-F238E27FC236}">
                <a16:creationId xmlns:a16="http://schemas.microsoft.com/office/drawing/2014/main" id="{8CD0539F-7EFF-3557-A23C-E266FC1EAD0E}"/>
              </a:ext>
            </a:extLst>
          </p:cNvPr>
          <p:cNvSpPr>
            <a:spLocks noGrp="1"/>
          </p:cNvSpPr>
          <p:nvPr>
            <p:ph idx="1"/>
          </p:nvPr>
        </p:nvSpPr>
        <p:spPr>
          <a:xfrm>
            <a:off x="838200" y="1385740"/>
            <a:ext cx="10515600" cy="4791223"/>
          </a:xfrm>
        </p:spPr>
        <p:txBody>
          <a:bodyPr/>
          <a:lstStyle/>
          <a:p>
            <a:r>
              <a:rPr lang="en-US" dirty="0"/>
              <a:t>Profit per Unit was calculated to evaluate the profitability of individual units sold. This metric enabled a deeper understanding of operational efficiency beyond aggregate profit values.</a:t>
            </a:r>
          </a:p>
          <a:p>
            <a:r>
              <a:rPr lang="en-US" dirty="0"/>
              <a:t>The findings indicated that certain products with high sales volumes exhibited low profit per unit, suggesting potential cost inefficiencies or pricing constraints. In contrast, products with higher unit profitability were identified as strategically important for maximizing returns.</a:t>
            </a:r>
          </a:p>
          <a:p>
            <a:r>
              <a:rPr lang="en-US" b="1" dirty="0"/>
              <a:t>Insight:</a:t>
            </a:r>
            <a:r>
              <a:rPr lang="en-US" dirty="0"/>
              <a:t> High volume does not guarantee high profitability at the unit level.</a:t>
            </a:r>
          </a:p>
          <a:p>
            <a:endParaRPr lang="en-US" dirty="0"/>
          </a:p>
        </p:txBody>
      </p:sp>
    </p:spTree>
    <p:extLst>
      <p:ext uri="{BB962C8B-B14F-4D97-AF65-F5344CB8AC3E}">
        <p14:creationId xmlns:p14="http://schemas.microsoft.com/office/powerpoint/2010/main" val="13646801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4BF61-63CE-8D05-0016-C875B329BCFB}"/>
              </a:ext>
            </a:extLst>
          </p:cNvPr>
          <p:cNvSpPr>
            <a:spLocks noGrp="1"/>
          </p:cNvSpPr>
          <p:nvPr>
            <p:ph type="title"/>
          </p:nvPr>
        </p:nvSpPr>
        <p:spPr/>
        <p:txBody>
          <a:bodyPr/>
          <a:lstStyle/>
          <a:p>
            <a:r>
              <a:rPr lang="en-US" b="1" i="1" u="sng" dirty="0"/>
              <a:t>Revenue Contribution</a:t>
            </a:r>
            <a:endParaRPr lang="en-US" i="1" u="sng" dirty="0"/>
          </a:p>
        </p:txBody>
      </p:sp>
      <p:sp>
        <p:nvSpPr>
          <p:cNvPr id="3" name="Content Placeholder 2">
            <a:extLst>
              <a:ext uri="{FF2B5EF4-FFF2-40B4-BE49-F238E27FC236}">
                <a16:creationId xmlns:a16="http://schemas.microsoft.com/office/drawing/2014/main" id="{D38B5484-45F1-A1A0-DFF9-18608A913A1C}"/>
              </a:ext>
            </a:extLst>
          </p:cNvPr>
          <p:cNvSpPr>
            <a:spLocks noGrp="1"/>
          </p:cNvSpPr>
          <p:nvPr>
            <p:ph idx="1"/>
          </p:nvPr>
        </p:nvSpPr>
        <p:spPr>
          <a:xfrm>
            <a:off x="631596" y="1385740"/>
            <a:ext cx="10722204" cy="4791223"/>
          </a:xfrm>
        </p:spPr>
        <p:txBody>
          <a:bodyPr/>
          <a:lstStyle/>
          <a:p>
            <a:r>
              <a:rPr lang="en-US" dirty="0"/>
              <a:t>Revenue Contribution was calculated as the proportion of total sales generated by each product. This KPI helped identify key revenue-driving products within the portfolio.</a:t>
            </a:r>
          </a:p>
          <a:p>
            <a:r>
              <a:rPr lang="en-US" dirty="0"/>
              <a:t>The analysis showed that a small number of products dominate total revenue, highlighting their importance in sustaining overall business performance.</a:t>
            </a:r>
          </a:p>
          <a:p>
            <a:r>
              <a:rPr lang="en-US" b="1" dirty="0"/>
              <a:t>Insight:</a:t>
            </a:r>
            <a:r>
              <a:rPr lang="en-US" dirty="0"/>
              <a:t> Revenue generation is concentrated among a limited set of products.</a:t>
            </a:r>
          </a:p>
          <a:p>
            <a:endParaRPr lang="en-US" dirty="0"/>
          </a:p>
        </p:txBody>
      </p:sp>
    </p:spTree>
    <p:extLst>
      <p:ext uri="{BB962C8B-B14F-4D97-AF65-F5344CB8AC3E}">
        <p14:creationId xmlns:p14="http://schemas.microsoft.com/office/powerpoint/2010/main" val="2088847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4D156-6343-BB97-7CE6-CF80CF206E03}"/>
              </a:ext>
            </a:extLst>
          </p:cNvPr>
          <p:cNvSpPr>
            <a:spLocks noGrp="1"/>
          </p:cNvSpPr>
          <p:nvPr>
            <p:ph type="title"/>
          </p:nvPr>
        </p:nvSpPr>
        <p:spPr/>
        <p:txBody>
          <a:bodyPr/>
          <a:lstStyle/>
          <a:p>
            <a:r>
              <a:rPr lang="en-US" b="1" i="1" u="sng" dirty="0"/>
              <a:t>Profit Contribution</a:t>
            </a:r>
          </a:p>
        </p:txBody>
      </p:sp>
      <p:sp>
        <p:nvSpPr>
          <p:cNvPr id="3" name="Content Placeholder 2">
            <a:extLst>
              <a:ext uri="{FF2B5EF4-FFF2-40B4-BE49-F238E27FC236}">
                <a16:creationId xmlns:a16="http://schemas.microsoft.com/office/drawing/2014/main" id="{1DE90A48-7644-8EF3-CECA-3E077DF3F226}"/>
              </a:ext>
            </a:extLst>
          </p:cNvPr>
          <p:cNvSpPr>
            <a:spLocks noGrp="1"/>
          </p:cNvSpPr>
          <p:nvPr>
            <p:ph idx="1"/>
          </p:nvPr>
        </p:nvSpPr>
        <p:spPr>
          <a:xfrm>
            <a:off x="838200" y="1517715"/>
            <a:ext cx="10515600" cy="3506772"/>
          </a:xfrm>
        </p:spPr>
        <p:txBody>
          <a:bodyPr/>
          <a:lstStyle/>
          <a:p>
            <a:r>
              <a:rPr lang="en-US" dirty="0"/>
              <a:t>Profit Contribution was measured to determine the share of total profit generated by each product. This KPI is critical for identifying actual profit drivers, as opposed to revenue drivers.</a:t>
            </a:r>
          </a:p>
          <a:p>
            <a:r>
              <a:rPr lang="en-US" dirty="0"/>
              <a:t>The results demonstrated that profit contribution is highly concentrated, with a few products accounting for a significant portion of total profit. This aligns with the Pareto Principle.</a:t>
            </a:r>
          </a:p>
          <a:p>
            <a:r>
              <a:rPr lang="en-US" dirty="0"/>
              <a:t> </a:t>
            </a:r>
            <a:r>
              <a:rPr lang="en-US" b="1" dirty="0"/>
              <a:t>Insight:</a:t>
            </a:r>
            <a:r>
              <a:rPr lang="en-US" dirty="0"/>
              <a:t> A small subset of products drives the majority of profitability.</a:t>
            </a:r>
          </a:p>
          <a:p>
            <a:endParaRPr lang="en-US" dirty="0"/>
          </a:p>
        </p:txBody>
      </p:sp>
    </p:spTree>
    <p:extLst>
      <p:ext uri="{BB962C8B-B14F-4D97-AF65-F5344CB8AC3E}">
        <p14:creationId xmlns:p14="http://schemas.microsoft.com/office/powerpoint/2010/main" val="19288541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632F9F-2D4A-7FB4-3047-57325555578F}"/>
              </a:ext>
            </a:extLst>
          </p:cNvPr>
          <p:cNvSpPr>
            <a:spLocks noGrp="1"/>
          </p:cNvSpPr>
          <p:nvPr>
            <p:ph type="title"/>
          </p:nvPr>
        </p:nvSpPr>
        <p:spPr/>
        <p:txBody>
          <a:bodyPr/>
          <a:lstStyle/>
          <a:p>
            <a:r>
              <a:rPr lang="en-US" b="1" i="1" u="sng" dirty="0"/>
              <a:t>Margin Volatility</a:t>
            </a:r>
          </a:p>
        </p:txBody>
      </p:sp>
      <p:sp>
        <p:nvSpPr>
          <p:cNvPr id="3" name="Content Placeholder 2">
            <a:extLst>
              <a:ext uri="{FF2B5EF4-FFF2-40B4-BE49-F238E27FC236}">
                <a16:creationId xmlns:a16="http://schemas.microsoft.com/office/drawing/2014/main" id="{3185C73C-B593-1C14-791C-0D38271F40A2}"/>
              </a:ext>
            </a:extLst>
          </p:cNvPr>
          <p:cNvSpPr>
            <a:spLocks noGrp="1"/>
          </p:cNvSpPr>
          <p:nvPr>
            <p:ph idx="1"/>
          </p:nvPr>
        </p:nvSpPr>
        <p:spPr>
          <a:xfrm>
            <a:off x="838200" y="1461155"/>
            <a:ext cx="10515600" cy="3591612"/>
          </a:xfrm>
        </p:spPr>
        <p:txBody>
          <a:bodyPr/>
          <a:lstStyle/>
          <a:p>
            <a:r>
              <a:rPr lang="en-US" dirty="0"/>
              <a:t>Margin Volatility was analyzed to assess the stability of profitability over time. Variations in margin indicate fluctuations in cost structures, pricing, or market conditions.</a:t>
            </a:r>
          </a:p>
          <a:p>
            <a:r>
              <a:rPr lang="en-US" dirty="0"/>
              <a:t>The analysis revealed that certain products and divisions exhibit unstable margins, suggesting potential risks related to cost variability or inconsistent pricing strategies.</a:t>
            </a:r>
          </a:p>
          <a:p>
            <a:r>
              <a:rPr lang="en-US" dirty="0"/>
              <a:t> </a:t>
            </a:r>
            <a:r>
              <a:rPr lang="en-US" b="1" dirty="0"/>
              <a:t>Insight:</a:t>
            </a:r>
            <a:r>
              <a:rPr lang="en-US" dirty="0"/>
              <a:t> Margin instability indicates financial risk and operational inconsistency.</a:t>
            </a:r>
          </a:p>
          <a:p>
            <a:endParaRPr lang="en-US" dirty="0"/>
          </a:p>
        </p:txBody>
      </p:sp>
    </p:spTree>
    <p:extLst>
      <p:ext uri="{BB962C8B-B14F-4D97-AF65-F5344CB8AC3E}">
        <p14:creationId xmlns:p14="http://schemas.microsoft.com/office/powerpoint/2010/main" val="18049360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3D916A-605B-8D9F-1695-E4CFB459DF3A}"/>
              </a:ext>
            </a:extLst>
          </p:cNvPr>
          <p:cNvSpPr txBox="1"/>
          <p:nvPr/>
        </p:nvSpPr>
        <p:spPr>
          <a:xfrm>
            <a:off x="697584" y="763571"/>
            <a:ext cx="10492031" cy="923330"/>
          </a:xfrm>
          <a:prstGeom prst="rect">
            <a:avLst/>
          </a:prstGeom>
          <a:noFill/>
        </p:spPr>
        <p:txBody>
          <a:bodyPr wrap="square">
            <a:spAutoFit/>
          </a:bodyPr>
          <a:lstStyle/>
          <a:p>
            <a:pPr>
              <a:buNone/>
            </a:pPr>
            <a:r>
              <a:rPr lang="en-US" b="1" dirty="0"/>
              <a:t>KPI Justification Statement</a:t>
            </a:r>
          </a:p>
          <a:p>
            <a:pPr>
              <a:buNone/>
            </a:pPr>
            <a:r>
              <a:rPr lang="en-US" dirty="0"/>
              <a:t>“All key performance indicators were calculated as per the prescribed definitions, enabling a comprehensive evaluation of profitability, efficiency, and risk across products and divisions.”</a:t>
            </a:r>
          </a:p>
        </p:txBody>
      </p:sp>
    </p:spTree>
    <p:extLst>
      <p:ext uri="{BB962C8B-B14F-4D97-AF65-F5344CB8AC3E}">
        <p14:creationId xmlns:p14="http://schemas.microsoft.com/office/powerpoint/2010/main" val="46926436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1B09F3-3B1C-A629-DE82-BE1C85A308C6}"/>
              </a:ext>
            </a:extLst>
          </p:cNvPr>
          <p:cNvSpPr>
            <a:spLocks noGrp="1"/>
          </p:cNvSpPr>
          <p:nvPr>
            <p:ph type="title"/>
          </p:nvPr>
        </p:nvSpPr>
        <p:spPr>
          <a:xfrm>
            <a:off x="838200" y="216817"/>
            <a:ext cx="10515600" cy="820131"/>
          </a:xfrm>
        </p:spPr>
        <p:txBody>
          <a:bodyPr>
            <a:normAutofit/>
          </a:bodyPr>
          <a:lstStyle/>
          <a:p>
            <a:r>
              <a:rPr lang="en-US" sz="2800" b="1" i="1" u="sng" dirty="0"/>
              <a:t>Profitability Metric Calculation – Product-Level Analysis</a:t>
            </a:r>
          </a:p>
        </p:txBody>
      </p:sp>
      <p:sp>
        <p:nvSpPr>
          <p:cNvPr id="5" name="Content Placeholder 4">
            <a:extLst>
              <a:ext uri="{FF2B5EF4-FFF2-40B4-BE49-F238E27FC236}">
                <a16:creationId xmlns:a16="http://schemas.microsoft.com/office/drawing/2014/main" id="{0A0FCD62-1590-4CBC-70CB-4172BA1D0F60}"/>
              </a:ext>
            </a:extLst>
          </p:cNvPr>
          <p:cNvSpPr>
            <a:spLocks noGrp="1"/>
          </p:cNvSpPr>
          <p:nvPr>
            <p:ph idx="1"/>
          </p:nvPr>
        </p:nvSpPr>
        <p:spPr>
          <a:xfrm>
            <a:off x="838200" y="1036948"/>
            <a:ext cx="10515600" cy="5140015"/>
          </a:xfrm>
        </p:spPr>
        <p:txBody>
          <a:bodyPr>
            <a:normAutofit fontScale="55000" lnSpcReduction="20000"/>
          </a:bodyPr>
          <a:lstStyle/>
          <a:p>
            <a:pPr marL="0" indent="0">
              <a:buNone/>
            </a:pPr>
            <a:r>
              <a:rPr lang="en-US" dirty="0"/>
              <a:t>The project implemented all prescribed profitability metrics at the product level, ensuring a detailed and granular evaluation of financial performance.</a:t>
            </a:r>
          </a:p>
          <a:p>
            <a:r>
              <a:rPr lang="en-US" b="1" dirty="0"/>
              <a:t>Metrics calculated:</a:t>
            </a:r>
          </a:p>
          <a:p>
            <a:r>
              <a:rPr lang="en-US" dirty="0"/>
              <a:t>Gross Margin (%) </a:t>
            </a:r>
          </a:p>
          <a:p>
            <a:r>
              <a:rPr lang="en-US" dirty="0"/>
              <a:t>Profit per Unit </a:t>
            </a:r>
          </a:p>
          <a:p>
            <a:r>
              <a:rPr lang="en-US" dirty="0"/>
              <a:t>Total Profit Contribution </a:t>
            </a:r>
          </a:p>
          <a:p>
            <a:r>
              <a:rPr lang="en-US" dirty="0"/>
              <a:t>Each product was analyzed individually using these metrics, allowing for classification into:</a:t>
            </a:r>
          </a:p>
          <a:p>
            <a:r>
              <a:rPr lang="en-US" dirty="0"/>
              <a:t>High-performing products </a:t>
            </a:r>
          </a:p>
          <a:p>
            <a:r>
              <a:rPr lang="en-US" dirty="0"/>
              <a:t>Low-margin, high-sales products </a:t>
            </a:r>
          </a:p>
          <a:p>
            <a:r>
              <a:rPr lang="en-US" dirty="0"/>
              <a:t>Low-performing products </a:t>
            </a:r>
            <a:endParaRPr lang="en-US" b="1" dirty="0"/>
          </a:p>
          <a:p>
            <a:pPr marL="0" indent="0">
              <a:buNone/>
            </a:pPr>
            <a:r>
              <a:rPr lang="en-US" b="1" dirty="0"/>
              <a:t> Insights:</a:t>
            </a:r>
          </a:p>
          <a:p>
            <a:r>
              <a:rPr lang="en-US" dirty="0"/>
              <a:t>Products with high profit contribution were identified as </a:t>
            </a:r>
            <a:r>
              <a:rPr lang="en-US" b="1" dirty="0"/>
              <a:t>core business drivers</a:t>
            </a:r>
            <a:r>
              <a:rPr lang="en-US" dirty="0"/>
              <a:t> </a:t>
            </a:r>
          </a:p>
          <a:p>
            <a:r>
              <a:rPr lang="en-US" dirty="0"/>
              <a:t>Products with low margins but high sales were flagged as </a:t>
            </a:r>
            <a:r>
              <a:rPr lang="en-US" b="1" dirty="0"/>
              <a:t>inefficient</a:t>
            </a:r>
            <a:r>
              <a:rPr lang="en-US" dirty="0"/>
              <a:t> </a:t>
            </a:r>
          </a:p>
          <a:p>
            <a:r>
              <a:rPr lang="en-US" dirty="0"/>
              <a:t>Products with low contribution were identified as candidates for </a:t>
            </a:r>
            <a:r>
              <a:rPr lang="en-US" b="1" dirty="0"/>
              <a:t>portfolio review</a:t>
            </a:r>
          </a:p>
          <a:p>
            <a:pPr marL="0" indent="0">
              <a:buNone/>
            </a:pPr>
            <a:endParaRPr lang="en-US" dirty="0"/>
          </a:p>
          <a:p>
            <a:pPr marL="0" indent="0">
              <a:buNone/>
            </a:pPr>
            <a:r>
              <a:rPr lang="en-US" dirty="0"/>
              <a:t> </a:t>
            </a:r>
            <a:r>
              <a:rPr lang="en-US" b="1" dirty="0"/>
              <a:t>Justification:</a:t>
            </a:r>
          </a:p>
          <a:p>
            <a:r>
              <a:rPr lang="en-US" dirty="0"/>
              <a:t>“Product-level profitability metrics were calculated and analyzed as prescribed, enabling identification of performance variations and supporting strategic decision-making.”</a:t>
            </a:r>
          </a:p>
          <a:p>
            <a:endParaRPr lang="en-US" dirty="0"/>
          </a:p>
          <a:p>
            <a:endParaRPr lang="en-US" dirty="0"/>
          </a:p>
        </p:txBody>
      </p:sp>
    </p:spTree>
    <p:extLst>
      <p:ext uri="{BB962C8B-B14F-4D97-AF65-F5344CB8AC3E}">
        <p14:creationId xmlns:p14="http://schemas.microsoft.com/office/powerpoint/2010/main" val="17053243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D2C79-95D9-5B50-BE80-E6C30573AEFD}"/>
              </a:ext>
            </a:extLst>
          </p:cNvPr>
          <p:cNvSpPr>
            <a:spLocks noGrp="1"/>
          </p:cNvSpPr>
          <p:nvPr>
            <p:ph type="title"/>
          </p:nvPr>
        </p:nvSpPr>
        <p:spPr>
          <a:xfrm>
            <a:off x="838200" y="365125"/>
            <a:ext cx="10515600" cy="1322273"/>
          </a:xfrm>
        </p:spPr>
        <p:txBody>
          <a:bodyPr>
            <a:normAutofit fontScale="90000"/>
          </a:bodyPr>
          <a:lstStyle/>
          <a:p>
            <a:r>
              <a:rPr lang="en-US" sz="3600" b="1" i="1" u="sng" dirty="0" err="1"/>
              <a:t>Streamlit</a:t>
            </a:r>
            <a:r>
              <a:rPr lang="en-US" sz="3600" b="1" i="1" u="sng" dirty="0"/>
              <a:t> Dashboard Modules – Detailed Implementation and Insights</a:t>
            </a:r>
            <a:br>
              <a:rPr lang="en-US" dirty="0"/>
            </a:br>
            <a:endParaRPr lang="en-US" dirty="0"/>
          </a:p>
        </p:txBody>
      </p:sp>
      <p:sp>
        <p:nvSpPr>
          <p:cNvPr id="3" name="Content Placeholder 2">
            <a:extLst>
              <a:ext uri="{FF2B5EF4-FFF2-40B4-BE49-F238E27FC236}">
                <a16:creationId xmlns:a16="http://schemas.microsoft.com/office/drawing/2014/main" id="{70610686-4879-2BF2-D28C-81C929A6A3F2}"/>
              </a:ext>
            </a:extLst>
          </p:cNvPr>
          <p:cNvSpPr>
            <a:spLocks noGrp="1"/>
          </p:cNvSpPr>
          <p:nvPr>
            <p:ph idx="1"/>
          </p:nvPr>
        </p:nvSpPr>
        <p:spPr>
          <a:xfrm>
            <a:off x="763571" y="1319753"/>
            <a:ext cx="10590229" cy="4857210"/>
          </a:xfrm>
        </p:spPr>
        <p:txBody>
          <a:bodyPr>
            <a:normAutofit/>
          </a:bodyPr>
          <a:lstStyle/>
          <a:p>
            <a:r>
              <a:rPr lang="en-US" dirty="0"/>
              <a:t>The dashboard was designed and structured strictly in accordance with the prescribed modular framework to ensure comprehensive analytical coverage of product-level and division-level performance. Each module was developed to address a specific analytical objective, enabling a holistic understanding of profitability, cost efficiency, and business risk.</a:t>
            </a:r>
          </a:p>
          <a:p>
            <a:r>
              <a:rPr lang="en-US" dirty="0"/>
              <a:t>The modular architecture not only enhances clarity and usability but also allows users to explore different dimensions of the dataset systematically. Each component of the dashboard contributes to a layered analytical approach, moving from granular product insights to broader organizational performance evaluation.</a:t>
            </a:r>
          </a:p>
          <a:p>
            <a:endParaRPr lang="en-US" dirty="0"/>
          </a:p>
        </p:txBody>
      </p:sp>
    </p:spTree>
    <p:extLst>
      <p:ext uri="{BB962C8B-B14F-4D97-AF65-F5344CB8AC3E}">
        <p14:creationId xmlns:p14="http://schemas.microsoft.com/office/powerpoint/2010/main" val="33113044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3277-92EF-235D-F520-6E591099ED12}"/>
              </a:ext>
            </a:extLst>
          </p:cNvPr>
          <p:cNvSpPr>
            <a:spLocks noGrp="1"/>
          </p:cNvSpPr>
          <p:nvPr>
            <p:ph type="title"/>
          </p:nvPr>
        </p:nvSpPr>
        <p:spPr/>
        <p:txBody>
          <a:bodyPr/>
          <a:lstStyle/>
          <a:p>
            <a:r>
              <a:rPr lang="en-US" b="1" i="1" u="sng" dirty="0"/>
              <a:t>Product Profitability Overview</a:t>
            </a:r>
          </a:p>
        </p:txBody>
      </p:sp>
      <p:sp>
        <p:nvSpPr>
          <p:cNvPr id="3" name="Content Placeholder 2">
            <a:extLst>
              <a:ext uri="{FF2B5EF4-FFF2-40B4-BE49-F238E27FC236}">
                <a16:creationId xmlns:a16="http://schemas.microsoft.com/office/drawing/2014/main" id="{80EB7065-83BB-2943-13ED-00D4C93F883A}"/>
              </a:ext>
            </a:extLst>
          </p:cNvPr>
          <p:cNvSpPr>
            <a:spLocks noGrp="1"/>
          </p:cNvSpPr>
          <p:nvPr>
            <p:ph idx="1"/>
          </p:nvPr>
        </p:nvSpPr>
        <p:spPr>
          <a:xfrm>
            <a:off x="763571" y="1451728"/>
            <a:ext cx="10590229" cy="4725235"/>
          </a:xfrm>
        </p:spPr>
        <p:txBody>
          <a:bodyPr>
            <a:normAutofit fontScale="55000" lnSpcReduction="20000"/>
          </a:bodyPr>
          <a:lstStyle/>
          <a:p>
            <a:r>
              <a:rPr lang="en-US" b="1" dirty="0"/>
              <a:t>Implementation</a:t>
            </a:r>
          </a:p>
          <a:p>
            <a:r>
              <a:rPr lang="en-US" dirty="0"/>
              <a:t>The Product Profitability Overview module was developed to provide a detailed and comparative analysis of individual product performance. This module includes:</a:t>
            </a:r>
          </a:p>
          <a:p>
            <a:r>
              <a:rPr lang="en-US" dirty="0"/>
              <a:t>A </a:t>
            </a:r>
            <a:r>
              <a:rPr lang="en-US" b="1" dirty="0"/>
              <a:t>product-level margin leaderboard</a:t>
            </a:r>
            <a:r>
              <a:rPr lang="en-US" dirty="0"/>
              <a:t>, which ranks products based on gross margin percentage or profitability </a:t>
            </a:r>
          </a:p>
          <a:p>
            <a:r>
              <a:rPr lang="en-US" dirty="0"/>
              <a:t>A </a:t>
            </a:r>
            <a:r>
              <a:rPr lang="en-US" b="1" dirty="0"/>
              <a:t>profit contribution visualization</a:t>
            </a:r>
            <a:r>
              <a:rPr lang="en-US" dirty="0"/>
              <a:t>, highlighting the share of total profit generated by each product </a:t>
            </a:r>
          </a:p>
          <a:p>
            <a:r>
              <a:rPr lang="en-US" dirty="0"/>
              <a:t>These visualizations enable users to quickly identify high-performing and low-performing products within the portfolio.</a:t>
            </a:r>
          </a:p>
          <a:p>
            <a:pPr marL="0" indent="0">
              <a:buNone/>
            </a:pPr>
            <a:r>
              <a:rPr lang="en-US" b="1" dirty="0"/>
              <a:t> Insights</a:t>
            </a:r>
          </a:p>
          <a:p>
            <a:r>
              <a:rPr lang="en-US" dirty="0"/>
              <a:t>The analysis reveals a clear differentiation in product performance:</a:t>
            </a:r>
          </a:p>
          <a:p>
            <a:r>
              <a:rPr lang="en-US" dirty="0"/>
              <a:t>A subset of products consistently ranks at the top in terms of profitability, indicating strong cost efficiency and effective pricing strategies </a:t>
            </a:r>
          </a:p>
          <a:p>
            <a:r>
              <a:rPr lang="en-US" dirty="0"/>
              <a:t>Certain products, despite generating significant sales, appear lower in the ranking due to reduced margins, highlighting inefficiencies </a:t>
            </a:r>
          </a:p>
          <a:p>
            <a:r>
              <a:rPr lang="en-US" dirty="0"/>
              <a:t>Low-performing products contribute minimally to overall profit, suggesting the need for strategic review </a:t>
            </a:r>
          </a:p>
          <a:p>
            <a:r>
              <a:rPr lang="en-US" dirty="0"/>
              <a:t>This module provides a transparent view of product-level financial performance, allowing stakeholders to prioritize high-value products and reassess underperforming ones.</a:t>
            </a:r>
          </a:p>
          <a:p>
            <a:pPr marL="0" indent="0">
              <a:buNone/>
            </a:pPr>
            <a:r>
              <a:rPr lang="en-US" b="1" dirty="0"/>
              <a:t>Justification</a:t>
            </a:r>
          </a:p>
          <a:p>
            <a:r>
              <a:rPr lang="en-US" dirty="0"/>
              <a:t>“The product profitability module provides a detailed and structured view of individual product performance, enabling identification of profit drivers and underperforming products, in accordance with the prescribed analytical requirements.”</a:t>
            </a:r>
          </a:p>
          <a:p>
            <a:endParaRPr lang="en-US" dirty="0"/>
          </a:p>
        </p:txBody>
      </p:sp>
    </p:spTree>
    <p:extLst>
      <p:ext uri="{BB962C8B-B14F-4D97-AF65-F5344CB8AC3E}">
        <p14:creationId xmlns:p14="http://schemas.microsoft.com/office/powerpoint/2010/main" val="4925582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42C87F-E14E-96D1-4F3B-C77887271960}"/>
              </a:ext>
            </a:extLst>
          </p:cNvPr>
          <p:cNvSpPr>
            <a:spLocks noGrp="1"/>
          </p:cNvSpPr>
          <p:nvPr>
            <p:ph type="title"/>
          </p:nvPr>
        </p:nvSpPr>
        <p:spPr>
          <a:xfrm>
            <a:off x="838200" y="365125"/>
            <a:ext cx="10515600" cy="926347"/>
          </a:xfrm>
        </p:spPr>
        <p:txBody>
          <a:bodyPr>
            <a:normAutofit/>
          </a:bodyPr>
          <a:lstStyle/>
          <a:p>
            <a:r>
              <a:rPr lang="en-US" sz="4000" b="1" i="1" u="sng" dirty="0"/>
              <a:t>Division Performance Dashboard</a:t>
            </a:r>
          </a:p>
        </p:txBody>
      </p:sp>
      <p:sp>
        <p:nvSpPr>
          <p:cNvPr id="3" name="Content Placeholder 2">
            <a:extLst>
              <a:ext uri="{FF2B5EF4-FFF2-40B4-BE49-F238E27FC236}">
                <a16:creationId xmlns:a16="http://schemas.microsoft.com/office/drawing/2014/main" id="{9438027D-57DA-580A-C56D-9E30C2FBB4EC}"/>
              </a:ext>
            </a:extLst>
          </p:cNvPr>
          <p:cNvSpPr>
            <a:spLocks noGrp="1"/>
          </p:cNvSpPr>
          <p:nvPr>
            <p:ph idx="1"/>
          </p:nvPr>
        </p:nvSpPr>
        <p:spPr>
          <a:xfrm>
            <a:off x="838200" y="1291472"/>
            <a:ext cx="10515600" cy="4885491"/>
          </a:xfrm>
        </p:spPr>
        <p:txBody>
          <a:bodyPr>
            <a:normAutofit fontScale="55000" lnSpcReduction="20000"/>
          </a:bodyPr>
          <a:lstStyle/>
          <a:p>
            <a:pPr marL="0" indent="0">
              <a:buNone/>
            </a:pPr>
            <a:r>
              <a:rPr lang="en-US" b="1" dirty="0"/>
              <a:t>Implementation</a:t>
            </a:r>
          </a:p>
          <a:p>
            <a:r>
              <a:rPr lang="en-US" dirty="0"/>
              <a:t>The Division Performance Dashboard was designed to evaluate financial efficiency at a broader organizational level. This module includes:</a:t>
            </a:r>
          </a:p>
          <a:p>
            <a:r>
              <a:rPr lang="en-US" dirty="0"/>
              <a:t>A </a:t>
            </a:r>
            <a:r>
              <a:rPr lang="en-US" b="1" dirty="0"/>
              <a:t>revenue vs profit comparison</a:t>
            </a:r>
            <a:r>
              <a:rPr lang="en-US" dirty="0"/>
              <a:t>, enabling side-by-side evaluation of sales performance and profitability </a:t>
            </a:r>
          </a:p>
          <a:p>
            <a:r>
              <a:rPr lang="en-US" dirty="0"/>
              <a:t>A </a:t>
            </a:r>
            <a:r>
              <a:rPr lang="en-US" b="1" dirty="0"/>
              <a:t>margin distribution visualization</a:t>
            </a:r>
            <a:r>
              <a:rPr lang="en-US" dirty="0"/>
              <a:t>, illustrating how profitability varies across different divisions </a:t>
            </a:r>
          </a:p>
          <a:p>
            <a:r>
              <a:rPr lang="en-US" dirty="0"/>
              <a:t>These components provide a macro-level understanding of business performance across segments.</a:t>
            </a:r>
          </a:p>
          <a:p>
            <a:pPr marL="0" indent="0">
              <a:buNone/>
            </a:pPr>
            <a:r>
              <a:rPr lang="en-US" b="1" dirty="0"/>
              <a:t> Insights</a:t>
            </a:r>
          </a:p>
          <a:p>
            <a:r>
              <a:rPr lang="en-US" dirty="0"/>
              <a:t>The division-level analysis reveals notable disparities:</a:t>
            </a:r>
          </a:p>
          <a:p>
            <a:r>
              <a:rPr lang="en-US" dirty="0"/>
              <a:t>Some divisions generate </a:t>
            </a:r>
            <a:r>
              <a:rPr lang="en-US" b="1" dirty="0"/>
              <a:t>high revenue but relatively low profit</a:t>
            </a:r>
            <a:r>
              <a:rPr lang="en-US" dirty="0"/>
              <a:t>, indicating potential issues such as high operational costs or inefficient pricing strategies </a:t>
            </a:r>
          </a:p>
          <a:p>
            <a:r>
              <a:rPr lang="en-US" dirty="0"/>
              <a:t>Other divisions demonstrate </a:t>
            </a:r>
            <a:r>
              <a:rPr lang="en-US" b="1" dirty="0"/>
              <a:t>strong margin performance</a:t>
            </a:r>
            <a:r>
              <a:rPr lang="en-US" dirty="0"/>
              <a:t>, reflecting better cost management and pricing efficiency </a:t>
            </a:r>
          </a:p>
          <a:p>
            <a:r>
              <a:rPr lang="en-US" dirty="0"/>
              <a:t>The imbalance between revenue and profit across divisions highlights structural inefficiencies that require targeted intervention </a:t>
            </a:r>
          </a:p>
          <a:p>
            <a:r>
              <a:rPr lang="en-US" dirty="0"/>
              <a:t>This module emphasizes that revenue alone is not a sufficient indicator of performance and that profitability must be evaluated in conjunction with cost structures.</a:t>
            </a:r>
          </a:p>
          <a:p>
            <a:pPr marL="0" indent="0">
              <a:buNone/>
            </a:pPr>
            <a:endParaRPr lang="en-US" b="1" dirty="0"/>
          </a:p>
          <a:p>
            <a:pPr marL="0" indent="0">
              <a:buNone/>
            </a:pPr>
            <a:r>
              <a:rPr lang="en-US" b="1" dirty="0"/>
              <a:t> Justification</a:t>
            </a:r>
          </a:p>
          <a:p>
            <a:r>
              <a:rPr lang="en-US" dirty="0"/>
              <a:t>“Division-level analysis was conducted to evaluate financial efficiency and performance variations across business segments, as prescribed in the analytical framework.”</a:t>
            </a:r>
          </a:p>
          <a:p>
            <a:pPr marL="0" indent="0">
              <a:buNone/>
            </a:pPr>
            <a:endParaRPr lang="en-US" b="1" dirty="0"/>
          </a:p>
          <a:p>
            <a:endParaRPr lang="en-US" dirty="0"/>
          </a:p>
        </p:txBody>
      </p:sp>
    </p:spTree>
    <p:extLst>
      <p:ext uri="{BB962C8B-B14F-4D97-AF65-F5344CB8AC3E}">
        <p14:creationId xmlns:p14="http://schemas.microsoft.com/office/powerpoint/2010/main" val="2611261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AFA9E96-1623-DD00-9B63-1D47EA9ECF54}"/>
              </a:ext>
            </a:extLst>
          </p:cNvPr>
          <p:cNvSpPr>
            <a:spLocks noGrp="1"/>
          </p:cNvSpPr>
          <p:nvPr>
            <p:ph idx="1"/>
          </p:nvPr>
        </p:nvSpPr>
        <p:spPr>
          <a:xfrm>
            <a:off x="838200" y="1458793"/>
            <a:ext cx="10515600" cy="4718170"/>
          </a:xfrm>
        </p:spPr>
        <p:txBody>
          <a:bodyPr>
            <a:normAutofit fontScale="47500" lnSpcReduction="20000"/>
          </a:bodyPr>
          <a:lstStyle/>
          <a:p>
            <a:r>
              <a:rPr lang="en-US" b="1" dirty="0"/>
              <a:t>Implementation</a:t>
            </a:r>
          </a:p>
          <a:p>
            <a:r>
              <a:rPr lang="en-US" dirty="0"/>
              <a:t>The Division Performance Dashboard was designed to evaluate financial efficiency at a broader organizational level. This module includes:</a:t>
            </a:r>
          </a:p>
          <a:p>
            <a:r>
              <a:rPr lang="en-US" dirty="0"/>
              <a:t>A </a:t>
            </a:r>
            <a:r>
              <a:rPr lang="en-US" b="1" dirty="0"/>
              <a:t>revenue vs profit comparison</a:t>
            </a:r>
            <a:r>
              <a:rPr lang="en-US" dirty="0"/>
              <a:t>, enabling side-by-side evaluation of sales performance and profitability </a:t>
            </a:r>
          </a:p>
          <a:p>
            <a:r>
              <a:rPr lang="en-US" dirty="0"/>
              <a:t>A </a:t>
            </a:r>
            <a:r>
              <a:rPr lang="en-US" b="1" dirty="0"/>
              <a:t>margin distribution visualization</a:t>
            </a:r>
            <a:r>
              <a:rPr lang="en-US" dirty="0"/>
              <a:t>, illustrating how profitability varies across different divisions </a:t>
            </a:r>
          </a:p>
          <a:p>
            <a:r>
              <a:rPr lang="en-US" dirty="0"/>
              <a:t>These components provide a macro-level understanding of business performance across segments.</a:t>
            </a:r>
          </a:p>
          <a:p>
            <a:br>
              <a:rPr lang="en-US" dirty="0"/>
            </a:br>
            <a:endParaRPr lang="en-US" dirty="0"/>
          </a:p>
          <a:p>
            <a:r>
              <a:rPr lang="en-US" b="1" dirty="0"/>
              <a:t>💡 Insights</a:t>
            </a:r>
          </a:p>
          <a:p>
            <a:r>
              <a:rPr lang="en-US" dirty="0"/>
              <a:t>The division-level analysis reveals notable disparities:</a:t>
            </a:r>
          </a:p>
          <a:p>
            <a:r>
              <a:rPr lang="en-US" dirty="0"/>
              <a:t>Some divisions generate </a:t>
            </a:r>
            <a:r>
              <a:rPr lang="en-US" b="1" dirty="0"/>
              <a:t>high revenue but relatively low profit</a:t>
            </a:r>
            <a:r>
              <a:rPr lang="en-US" dirty="0"/>
              <a:t>, indicating potential issues such as high operational costs or inefficient pricing strategies </a:t>
            </a:r>
          </a:p>
          <a:p>
            <a:r>
              <a:rPr lang="en-US" dirty="0"/>
              <a:t>Other divisions demonstrate </a:t>
            </a:r>
            <a:r>
              <a:rPr lang="en-US" b="1" dirty="0"/>
              <a:t>strong margin performance</a:t>
            </a:r>
            <a:r>
              <a:rPr lang="en-US" dirty="0"/>
              <a:t>, reflecting better cost management and pricing efficiency </a:t>
            </a:r>
          </a:p>
          <a:p>
            <a:r>
              <a:rPr lang="en-US" dirty="0"/>
              <a:t>The imbalance between revenue and profit across divisions highlights structural inefficiencies that require targeted intervention </a:t>
            </a:r>
          </a:p>
          <a:p>
            <a:r>
              <a:rPr lang="en-US" dirty="0"/>
              <a:t>This module emphasizes that revenue alone is not a sufficient indicator of performance and that profitability must be evaluated in conjunction with cost structures.</a:t>
            </a:r>
          </a:p>
          <a:p>
            <a:br>
              <a:rPr lang="en-US" dirty="0"/>
            </a:br>
            <a:endParaRPr lang="en-US" dirty="0"/>
          </a:p>
          <a:p>
            <a:r>
              <a:rPr lang="en-US" b="1" dirty="0"/>
              <a:t>✅ Justification</a:t>
            </a:r>
          </a:p>
          <a:p>
            <a:r>
              <a:rPr lang="en-US" dirty="0"/>
              <a:t>“Division-level analysis was conducted to evaluate financial efficiency and performance variations across business segments, as prescribed in the analytical framework.”</a:t>
            </a:r>
          </a:p>
          <a:p>
            <a:endParaRPr lang="en-US" dirty="0"/>
          </a:p>
        </p:txBody>
      </p:sp>
      <p:sp>
        <p:nvSpPr>
          <p:cNvPr id="4" name="Rectangle 1">
            <a:extLst>
              <a:ext uri="{FF2B5EF4-FFF2-40B4-BE49-F238E27FC236}">
                <a16:creationId xmlns:a16="http://schemas.microsoft.com/office/drawing/2014/main" id="{BF3A410B-BBA7-61C3-5CB8-1AE4C5564D62}"/>
              </a:ext>
            </a:extLst>
          </p:cNvPr>
          <p:cNvSpPr>
            <a:spLocks noGrp="1" noChangeArrowheads="1"/>
          </p:cNvSpPr>
          <p:nvPr>
            <p:ph type="title"/>
          </p:nvPr>
        </p:nvSpPr>
        <p:spPr bwMode="auto">
          <a:xfrm>
            <a:off x="838200" y="597019"/>
            <a:ext cx="5556329"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1" i="1" u="sng" strike="noStrike" cap="none" normalizeH="0" baseline="0" dirty="0">
                <a:ln>
                  <a:noFill/>
                </a:ln>
                <a:solidFill>
                  <a:schemeClr val="tx1"/>
                </a:solidFill>
                <a:effectLst/>
                <a:latin typeface="Arial" panose="020B0604020202020204" pitchFamily="34" charset="0"/>
              </a:rPr>
              <a:t>Cost vs Margin Diagnostics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905922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02533-2876-63B2-4AFF-9930A058DA23}"/>
              </a:ext>
            </a:extLst>
          </p:cNvPr>
          <p:cNvSpPr>
            <a:spLocks noGrp="1"/>
          </p:cNvSpPr>
          <p:nvPr>
            <p:ph type="title"/>
          </p:nvPr>
        </p:nvSpPr>
        <p:spPr>
          <a:xfrm>
            <a:off x="838200" y="365126"/>
            <a:ext cx="10515600" cy="822652"/>
          </a:xfrm>
        </p:spPr>
        <p:txBody>
          <a:bodyPr/>
          <a:lstStyle/>
          <a:p>
            <a:r>
              <a:rPr lang="en-US" b="1" i="1" u="sng" dirty="0"/>
              <a:t>Cost vs Margin Diagnostics</a:t>
            </a:r>
          </a:p>
        </p:txBody>
      </p:sp>
      <p:sp>
        <p:nvSpPr>
          <p:cNvPr id="3" name="Content Placeholder 2">
            <a:extLst>
              <a:ext uri="{FF2B5EF4-FFF2-40B4-BE49-F238E27FC236}">
                <a16:creationId xmlns:a16="http://schemas.microsoft.com/office/drawing/2014/main" id="{415CFC4E-6DD2-D210-DED6-669580EAAC82}"/>
              </a:ext>
            </a:extLst>
          </p:cNvPr>
          <p:cNvSpPr>
            <a:spLocks noGrp="1"/>
          </p:cNvSpPr>
          <p:nvPr>
            <p:ph idx="1"/>
          </p:nvPr>
        </p:nvSpPr>
        <p:spPr>
          <a:xfrm>
            <a:off x="838200" y="1187778"/>
            <a:ext cx="10515600" cy="4989185"/>
          </a:xfrm>
        </p:spPr>
        <p:txBody>
          <a:bodyPr>
            <a:normAutofit fontScale="55000" lnSpcReduction="20000"/>
          </a:bodyPr>
          <a:lstStyle/>
          <a:p>
            <a:pPr marL="0" indent="0">
              <a:buNone/>
            </a:pPr>
            <a:r>
              <a:rPr lang="en-US" b="1" dirty="0"/>
              <a:t>Implementation</a:t>
            </a:r>
          </a:p>
          <a:p>
            <a:r>
              <a:rPr lang="en-US" dirty="0"/>
              <a:t>The Cost vs Margin Diagnostics module was developed to analyze the relationship between cost and sales using visual techniques. It includes:</a:t>
            </a:r>
          </a:p>
          <a:p>
            <a:r>
              <a:rPr lang="en-US" b="1" dirty="0"/>
              <a:t>Scatter plots comparing cost and sales values</a:t>
            </a:r>
            <a:r>
              <a:rPr lang="en-US" dirty="0"/>
              <a:t>, where each point represents a product </a:t>
            </a:r>
          </a:p>
          <a:p>
            <a:r>
              <a:rPr lang="en-US" b="1" dirty="0"/>
              <a:t>Margin risk identification</a:t>
            </a:r>
            <a:r>
              <a:rPr lang="en-US" dirty="0"/>
              <a:t>, highlighting products with low margins or unfavorable cost-to-revenue ratios </a:t>
            </a:r>
          </a:p>
          <a:p>
            <a:r>
              <a:rPr lang="en-US" dirty="0"/>
              <a:t>This visualization helps in identifying patterns that are not easily visible in tabular data.</a:t>
            </a:r>
          </a:p>
          <a:p>
            <a:pPr marL="0" indent="0">
              <a:buNone/>
            </a:pPr>
            <a:r>
              <a:rPr lang="en-US" b="1" dirty="0"/>
              <a:t> Insights</a:t>
            </a:r>
          </a:p>
          <a:p>
            <a:r>
              <a:rPr lang="en-US" dirty="0"/>
              <a:t>The diagnostic analysis provides critical operational insights:</a:t>
            </a:r>
          </a:p>
          <a:p>
            <a:r>
              <a:rPr lang="en-US" dirty="0"/>
              <a:t>Certain products exhibit </a:t>
            </a:r>
            <a:r>
              <a:rPr lang="en-US" b="1" dirty="0"/>
              <a:t>high costs relative to sales</a:t>
            </a:r>
            <a:r>
              <a:rPr lang="en-US" dirty="0"/>
              <a:t>, resulting in low profitability </a:t>
            </a:r>
          </a:p>
          <a:p>
            <a:r>
              <a:rPr lang="en-US" dirty="0"/>
              <a:t>These cost-heavy products indicate inefficiencies in sourcing, production, or pricing </a:t>
            </a:r>
          </a:p>
          <a:p>
            <a:r>
              <a:rPr lang="en-US" dirty="0"/>
              <a:t>Products positioned in unfavorable regions of the scatter plot are identified as </a:t>
            </a:r>
            <a:r>
              <a:rPr lang="en-US" b="1" dirty="0"/>
              <a:t>margin-risk products</a:t>
            </a:r>
            <a:r>
              <a:rPr lang="en-US" dirty="0"/>
              <a:t>, requiring immediate attention </a:t>
            </a:r>
          </a:p>
          <a:p>
            <a:r>
              <a:rPr lang="en-US" dirty="0"/>
              <a:t>This module plays a crucial role in uncovering hidden inefficiencies and supports strategic actions such as cost optimization or price adjustments.</a:t>
            </a:r>
          </a:p>
          <a:p>
            <a:pPr marL="0" indent="0">
              <a:buNone/>
            </a:pPr>
            <a:endParaRPr lang="en-US" b="1" dirty="0"/>
          </a:p>
          <a:p>
            <a:pPr marL="0" indent="0">
              <a:buNone/>
            </a:pPr>
            <a:r>
              <a:rPr lang="en-US" b="1" dirty="0"/>
              <a:t> Justification</a:t>
            </a:r>
          </a:p>
          <a:p>
            <a:r>
              <a:rPr lang="en-US" dirty="0"/>
              <a:t>“Cost diagnostics were performed using scatter-based visualization techniques to identify cost-heavy and margin-poor products, ensuring alignment with the prescribed analytical methodology.”</a:t>
            </a:r>
          </a:p>
          <a:p>
            <a:endParaRPr lang="en-US" dirty="0"/>
          </a:p>
        </p:txBody>
      </p:sp>
    </p:spTree>
    <p:extLst>
      <p:ext uri="{BB962C8B-B14F-4D97-AF65-F5344CB8AC3E}">
        <p14:creationId xmlns:p14="http://schemas.microsoft.com/office/powerpoint/2010/main" val="22138072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2AB64-BF28-93E5-46CE-94FF55B37EB3}"/>
              </a:ext>
            </a:extLst>
          </p:cNvPr>
          <p:cNvSpPr>
            <a:spLocks noGrp="1"/>
          </p:cNvSpPr>
          <p:nvPr>
            <p:ph type="title"/>
          </p:nvPr>
        </p:nvSpPr>
        <p:spPr>
          <a:xfrm>
            <a:off x="838200" y="365125"/>
            <a:ext cx="10515600" cy="832079"/>
          </a:xfrm>
        </p:spPr>
        <p:txBody>
          <a:bodyPr>
            <a:normAutofit/>
          </a:bodyPr>
          <a:lstStyle/>
          <a:p>
            <a:r>
              <a:rPr lang="en-US" sz="3600" b="1" i="1" u="sng" dirty="0"/>
              <a:t>Profit Concentration Analysis</a:t>
            </a:r>
          </a:p>
        </p:txBody>
      </p:sp>
      <p:sp>
        <p:nvSpPr>
          <p:cNvPr id="3" name="Content Placeholder 2">
            <a:extLst>
              <a:ext uri="{FF2B5EF4-FFF2-40B4-BE49-F238E27FC236}">
                <a16:creationId xmlns:a16="http://schemas.microsoft.com/office/drawing/2014/main" id="{A33BF5FE-EE39-CCF0-EC8E-730CBF2C6B81}"/>
              </a:ext>
            </a:extLst>
          </p:cNvPr>
          <p:cNvSpPr>
            <a:spLocks noGrp="1"/>
          </p:cNvSpPr>
          <p:nvPr>
            <p:ph idx="1"/>
          </p:nvPr>
        </p:nvSpPr>
        <p:spPr>
          <a:xfrm>
            <a:off x="838200" y="1131216"/>
            <a:ext cx="10515600" cy="5045747"/>
          </a:xfrm>
        </p:spPr>
        <p:txBody>
          <a:bodyPr>
            <a:normAutofit fontScale="55000" lnSpcReduction="20000"/>
          </a:bodyPr>
          <a:lstStyle/>
          <a:p>
            <a:pPr marL="0" indent="0">
              <a:buNone/>
            </a:pPr>
            <a:r>
              <a:rPr lang="en-US" b="1" dirty="0"/>
              <a:t>Implementation</a:t>
            </a:r>
          </a:p>
          <a:p>
            <a:r>
              <a:rPr lang="en-US" dirty="0"/>
              <a:t>The Profit Concentration Analysis module was designed to evaluate how profit is distributed across products. It includes:</a:t>
            </a:r>
          </a:p>
          <a:p>
            <a:r>
              <a:rPr lang="en-US" b="1" dirty="0"/>
              <a:t>Pareto charts</a:t>
            </a:r>
            <a:r>
              <a:rPr lang="en-US" dirty="0"/>
              <a:t>, displaying cumulative profit contribution </a:t>
            </a:r>
          </a:p>
          <a:p>
            <a:r>
              <a:rPr lang="en-US" b="1" dirty="0"/>
              <a:t>Dependency indicators</a:t>
            </a:r>
            <a:r>
              <a:rPr lang="en-US" dirty="0"/>
              <a:t>, measuring the extent of reliance on top-performing products </a:t>
            </a:r>
          </a:p>
          <a:p>
            <a:r>
              <a:rPr lang="en-US" dirty="0"/>
              <a:t>These tools provide a clear understanding of profit distribution and concentration.</a:t>
            </a:r>
          </a:p>
          <a:p>
            <a:pPr marL="0" indent="0">
              <a:buNone/>
            </a:pPr>
            <a:endParaRPr lang="en-US" b="1" dirty="0"/>
          </a:p>
          <a:p>
            <a:pPr marL="0" indent="0">
              <a:buNone/>
            </a:pPr>
            <a:r>
              <a:rPr lang="en-US" b="1" dirty="0"/>
              <a:t>Insights</a:t>
            </a:r>
          </a:p>
          <a:p>
            <a:r>
              <a:rPr lang="en-US" dirty="0"/>
              <a:t>The analysis highlights a strong concentration of profit:</a:t>
            </a:r>
          </a:p>
          <a:p>
            <a:r>
              <a:rPr lang="en-US" dirty="0"/>
              <a:t>A limited number of products contribute the majority of total profit </a:t>
            </a:r>
          </a:p>
          <a:p>
            <a:r>
              <a:rPr lang="en-US" dirty="0"/>
              <a:t>This distribution aligns with the Pareto Principle, indicating that approximately 80% of profit is generated by a small percentage of products </a:t>
            </a:r>
          </a:p>
          <a:p>
            <a:r>
              <a:rPr lang="en-US" dirty="0"/>
              <a:t>The dependency indicator reveals a significant reliance on these top-performing products, creating potential risk </a:t>
            </a:r>
          </a:p>
          <a:p>
            <a:r>
              <a:rPr lang="en-US" dirty="0"/>
              <a:t>This concentration suggests that while key products are essential for profitability, over-dependence may affect long-term stability.</a:t>
            </a:r>
          </a:p>
          <a:p>
            <a:pPr marL="0" indent="0">
              <a:buNone/>
            </a:pPr>
            <a:endParaRPr lang="en-US" b="1" dirty="0"/>
          </a:p>
          <a:p>
            <a:pPr marL="0" indent="0">
              <a:buNone/>
            </a:pPr>
            <a:r>
              <a:rPr lang="en-US" b="1" dirty="0"/>
              <a:t> Justification</a:t>
            </a:r>
          </a:p>
          <a:p>
            <a:r>
              <a:rPr lang="en-US" dirty="0"/>
              <a:t>“Profit concentration and dependency analysis were implemented using Pareto-based techniques to evaluate the distribution of profitability and assess business risk, as required by the prescribed framework.”</a:t>
            </a:r>
          </a:p>
          <a:p>
            <a:endParaRPr lang="en-US" dirty="0"/>
          </a:p>
        </p:txBody>
      </p:sp>
    </p:spTree>
    <p:extLst>
      <p:ext uri="{BB962C8B-B14F-4D97-AF65-F5344CB8AC3E}">
        <p14:creationId xmlns:p14="http://schemas.microsoft.com/office/powerpoint/2010/main" val="23215498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2E736-80EC-02C0-E985-8126B4E34C8D}"/>
              </a:ext>
            </a:extLst>
          </p:cNvPr>
          <p:cNvSpPr>
            <a:spLocks noGrp="1"/>
          </p:cNvSpPr>
          <p:nvPr>
            <p:ph type="title"/>
          </p:nvPr>
        </p:nvSpPr>
        <p:spPr>
          <a:xfrm>
            <a:off x="744718" y="0"/>
            <a:ext cx="10609082" cy="1140644"/>
          </a:xfrm>
        </p:spPr>
        <p:txBody>
          <a:bodyPr>
            <a:normAutofit fontScale="90000"/>
          </a:bodyPr>
          <a:lstStyle/>
          <a:p>
            <a:r>
              <a:rPr lang="en-US" sz="3100" b="1" i="1" u="sng" dirty="0"/>
              <a:t>User Capabilities</a:t>
            </a:r>
            <a:br>
              <a:rPr lang="en-US" sz="1800" b="1" i="1" u="sng" dirty="0"/>
            </a:br>
            <a:r>
              <a:rPr lang="en-US" sz="1800" dirty="0"/>
              <a:t>The dashboard incorporates all prescribed interactive features to enhance usability and enable dynamic data exploration. These capabilities ensure that users can analyze the dataset from multiple perspectives without requiring technical expertise.</a:t>
            </a:r>
            <a:br>
              <a:rPr lang="en-US" sz="1800" dirty="0"/>
            </a:br>
            <a:endParaRPr lang="en-US" sz="1800" b="1" i="1" u="sng" dirty="0"/>
          </a:p>
        </p:txBody>
      </p:sp>
      <p:sp>
        <p:nvSpPr>
          <p:cNvPr id="3" name="Content Placeholder 2">
            <a:extLst>
              <a:ext uri="{FF2B5EF4-FFF2-40B4-BE49-F238E27FC236}">
                <a16:creationId xmlns:a16="http://schemas.microsoft.com/office/drawing/2014/main" id="{CE63022F-40FB-B1F5-1146-9956F7202843}"/>
              </a:ext>
            </a:extLst>
          </p:cNvPr>
          <p:cNvSpPr>
            <a:spLocks noGrp="1"/>
          </p:cNvSpPr>
          <p:nvPr>
            <p:ph idx="1"/>
          </p:nvPr>
        </p:nvSpPr>
        <p:spPr>
          <a:xfrm>
            <a:off x="838200" y="980388"/>
            <a:ext cx="10515600" cy="5196575"/>
          </a:xfrm>
        </p:spPr>
        <p:txBody>
          <a:bodyPr>
            <a:normAutofit fontScale="55000" lnSpcReduction="20000"/>
          </a:bodyPr>
          <a:lstStyle/>
          <a:p>
            <a:r>
              <a:rPr lang="en-US" b="1" dirty="0"/>
              <a:t>Implemented Features</a:t>
            </a:r>
          </a:p>
          <a:p>
            <a:r>
              <a:rPr lang="en-US" b="1" dirty="0"/>
              <a:t>🔹 Date Range Selector</a:t>
            </a:r>
          </a:p>
          <a:p>
            <a:r>
              <a:rPr lang="en-US" dirty="0"/>
              <a:t>Allows users to filter data based on specific time periods, enabling temporal analysis and trend evaluation.</a:t>
            </a:r>
          </a:p>
          <a:p>
            <a:r>
              <a:rPr lang="en-US" b="1" dirty="0"/>
              <a:t>🔹 Division Filter</a:t>
            </a:r>
          </a:p>
          <a:p>
            <a:r>
              <a:rPr lang="en-US" dirty="0"/>
              <a:t>Enables users to focus on specific divisions, facilitating targeted analysis of performance across business segments.</a:t>
            </a:r>
          </a:p>
          <a:p>
            <a:r>
              <a:rPr lang="en-US" b="1" dirty="0"/>
              <a:t>🔹 Margin Threshold Slider</a:t>
            </a:r>
          </a:p>
          <a:p>
            <a:r>
              <a:rPr lang="en-US" dirty="0"/>
              <a:t>Allows users to filter products based on margin levels, helping identify high-margin or low-margin products quickly.</a:t>
            </a:r>
          </a:p>
          <a:p>
            <a:r>
              <a:rPr lang="en-US" b="1" dirty="0"/>
              <a:t>🔹 Product Search Functionality</a:t>
            </a:r>
          </a:p>
          <a:p>
            <a:r>
              <a:rPr lang="en-US" dirty="0"/>
              <a:t>Provides the ability to locate and analyze specific products efficiently, improving user experience and accessibility.</a:t>
            </a:r>
          </a:p>
          <a:p>
            <a:pPr marL="0" indent="0">
              <a:buNone/>
            </a:pPr>
            <a:r>
              <a:rPr lang="en-US" b="1" dirty="0"/>
              <a:t> Insights</a:t>
            </a:r>
          </a:p>
          <a:p>
            <a:r>
              <a:rPr lang="en-US" dirty="0"/>
              <a:t>The integration of interactive features significantly enhances analytical flexibility:</a:t>
            </a:r>
          </a:p>
          <a:p>
            <a:r>
              <a:rPr lang="en-US" dirty="0"/>
              <a:t>Users can perform </a:t>
            </a:r>
            <a:r>
              <a:rPr lang="en-US" b="1" dirty="0"/>
              <a:t>customized analysis</a:t>
            </a:r>
            <a:r>
              <a:rPr lang="en-US" dirty="0"/>
              <a:t> based on their specific requirements </a:t>
            </a:r>
          </a:p>
          <a:p>
            <a:r>
              <a:rPr lang="en-US" dirty="0"/>
              <a:t>The dashboard supports </a:t>
            </a:r>
            <a:r>
              <a:rPr lang="en-US" b="1" dirty="0"/>
              <a:t>real-time filtering and comparison</a:t>
            </a:r>
            <a:r>
              <a:rPr lang="en-US" dirty="0"/>
              <a:t>, improving decision-making efficiency </a:t>
            </a:r>
          </a:p>
          <a:p>
            <a:r>
              <a:rPr lang="en-US" dirty="0"/>
              <a:t>Interactive controls enable deeper exploration of data, uncovering insights that static reports cannot provide </a:t>
            </a:r>
          </a:p>
          <a:p>
            <a:pPr marL="0" indent="0">
              <a:buNone/>
            </a:pPr>
            <a:r>
              <a:rPr lang="en-US" b="1" dirty="0"/>
              <a:t>Justification</a:t>
            </a:r>
          </a:p>
          <a:p>
            <a:r>
              <a:rPr lang="en-US" dirty="0"/>
              <a:t>“All prescribed user capabilities were successfully implemented to enable dynamic interaction with the dashboard, ensuring flexibility, accessibility, and enhanced analytical depth.”</a:t>
            </a:r>
          </a:p>
          <a:p>
            <a:pPr marL="0" indent="0">
              <a:buNone/>
            </a:pPr>
            <a:endParaRPr lang="en-US" dirty="0"/>
          </a:p>
        </p:txBody>
      </p:sp>
    </p:spTree>
    <p:extLst>
      <p:ext uri="{BB962C8B-B14F-4D97-AF65-F5344CB8AC3E}">
        <p14:creationId xmlns:p14="http://schemas.microsoft.com/office/powerpoint/2010/main" val="3236794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ABC66C-9830-6F22-DC06-C8AF3A0FAD22}"/>
              </a:ext>
            </a:extLst>
          </p:cNvPr>
          <p:cNvSpPr>
            <a:spLocks noGrp="1"/>
          </p:cNvSpPr>
          <p:nvPr>
            <p:ph type="title"/>
          </p:nvPr>
        </p:nvSpPr>
        <p:spPr/>
        <p:txBody>
          <a:bodyPr/>
          <a:lstStyle/>
          <a:p>
            <a:r>
              <a:rPr lang="en-US" b="1" i="1" u="sng" dirty="0"/>
              <a:t>FINAL CONSOLIDATED JUSTIFICATION</a:t>
            </a:r>
          </a:p>
        </p:txBody>
      </p:sp>
      <p:sp>
        <p:nvSpPr>
          <p:cNvPr id="3" name="Content Placeholder 2">
            <a:extLst>
              <a:ext uri="{FF2B5EF4-FFF2-40B4-BE49-F238E27FC236}">
                <a16:creationId xmlns:a16="http://schemas.microsoft.com/office/drawing/2014/main" id="{B0661ADD-A017-4CF4-D49D-A4D5DCC8204E}"/>
              </a:ext>
            </a:extLst>
          </p:cNvPr>
          <p:cNvSpPr>
            <a:spLocks noGrp="1"/>
          </p:cNvSpPr>
          <p:nvPr>
            <p:ph idx="1"/>
          </p:nvPr>
        </p:nvSpPr>
        <p:spPr>
          <a:xfrm>
            <a:off x="838200" y="1461155"/>
            <a:ext cx="10515600" cy="4715808"/>
          </a:xfrm>
        </p:spPr>
        <p:txBody>
          <a:bodyPr/>
          <a:lstStyle/>
          <a:p>
            <a:r>
              <a:rPr lang="en-US" dirty="0"/>
              <a:t>“The </a:t>
            </a:r>
            <a:r>
              <a:rPr lang="en-US" dirty="0" err="1"/>
              <a:t>Streamlit</a:t>
            </a:r>
            <a:r>
              <a:rPr lang="en-US" dirty="0"/>
              <a:t> dashboard was developed in full compliance with the prescribed modular structure, incorporating product-level analysis, division-level performance evaluation, cost diagnostics, and profit concentration assessment. Each module was implemented systematically to deliver actionable insights, while interactive features were integrated to enhance usability and support dynamic data exploration. The dashboard effectively translates complex data into meaningful insights, enabling informed and data-driven decision-making.”</a:t>
            </a:r>
          </a:p>
        </p:txBody>
      </p:sp>
    </p:spTree>
    <p:extLst>
      <p:ext uri="{BB962C8B-B14F-4D97-AF65-F5344CB8AC3E}">
        <p14:creationId xmlns:p14="http://schemas.microsoft.com/office/powerpoint/2010/main" val="29353492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795933-2ADA-C542-B2D9-563A7BD47BB8}"/>
              </a:ext>
            </a:extLst>
          </p:cNvPr>
          <p:cNvSpPr>
            <a:spLocks noGrp="1"/>
          </p:cNvSpPr>
          <p:nvPr>
            <p:ph type="title"/>
          </p:nvPr>
        </p:nvSpPr>
        <p:spPr>
          <a:xfrm>
            <a:off x="838200" y="365126"/>
            <a:ext cx="10515600" cy="964054"/>
          </a:xfrm>
        </p:spPr>
        <p:txBody>
          <a:bodyPr/>
          <a:lstStyle/>
          <a:p>
            <a:r>
              <a:rPr lang="en-US" b="1" i="1" u="sng" dirty="0"/>
              <a:t>Overall Analytical Justification</a:t>
            </a:r>
          </a:p>
        </p:txBody>
      </p:sp>
      <p:sp>
        <p:nvSpPr>
          <p:cNvPr id="3" name="Content Placeholder 2">
            <a:extLst>
              <a:ext uri="{FF2B5EF4-FFF2-40B4-BE49-F238E27FC236}">
                <a16:creationId xmlns:a16="http://schemas.microsoft.com/office/drawing/2014/main" id="{F9B36456-80D0-AF0B-CC8A-348E68A8B524}"/>
              </a:ext>
            </a:extLst>
          </p:cNvPr>
          <p:cNvSpPr>
            <a:spLocks noGrp="1"/>
          </p:cNvSpPr>
          <p:nvPr>
            <p:ph idx="1"/>
          </p:nvPr>
        </p:nvSpPr>
        <p:spPr>
          <a:xfrm>
            <a:off x="838200" y="1329180"/>
            <a:ext cx="10515600" cy="4847783"/>
          </a:xfrm>
        </p:spPr>
        <p:txBody>
          <a:bodyPr/>
          <a:lstStyle/>
          <a:p>
            <a:r>
              <a:rPr lang="en-US" dirty="0"/>
              <a:t>The entire analytical process—from data cleaning and validation to advanced profitability and concentration analysis—was conducted strictly in accordance with the prescribed framework.</a:t>
            </a:r>
          </a:p>
          <a:p>
            <a:r>
              <a:rPr lang="en-US" dirty="0"/>
              <a:t>Each step was implemented systematically to ensure:</a:t>
            </a:r>
          </a:p>
          <a:p>
            <a:r>
              <a:rPr lang="en-US" dirty="0"/>
              <a:t>Data accuracy and consistency </a:t>
            </a:r>
          </a:p>
          <a:p>
            <a:r>
              <a:rPr lang="en-US" dirty="0"/>
              <a:t>Reliable financial calculations </a:t>
            </a:r>
          </a:p>
          <a:p>
            <a:r>
              <a:rPr lang="en-US" dirty="0"/>
              <a:t>Meaningful and actionable insights </a:t>
            </a:r>
          </a:p>
          <a:p>
            <a:r>
              <a:rPr lang="en-US" dirty="0"/>
              <a:t>The integration of multiple analytical techniques, including profitability metrics, cost diagnostics, and concentration analysis, enabled a comprehensive evaluation of business performance.</a:t>
            </a:r>
          </a:p>
          <a:p>
            <a:endParaRPr lang="en-US" dirty="0"/>
          </a:p>
        </p:txBody>
      </p:sp>
    </p:spTree>
    <p:extLst>
      <p:ext uri="{BB962C8B-B14F-4D97-AF65-F5344CB8AC3E}">
        <p14:creationId xmlns:p14="http://schemas.microsoft.com/office/powerpoint/2010/main" val="283232334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13517-13F1-A06E-B165-82195CAD886F}"/>
              </a:ext>
            </a:extLst>
          </p:cNvPr>
          <p:cNvSpPr>
            <a:spLocks noGrp="1"/>
          </p:cNvSpPr>
          <p:nvPr>
            <p:ph type="title"/>
          </p:nvPr>
        </p:nvSpPr>
        <p:spPr>
          <a:xfrm>
            <a:off x="838200" y="365125"/>
            <a:ext cx="10515600" cy="945201"/>
          </a:xfrm>
        </p:spPr>
        <p:txBody>
          <a:bodyPr/>
          <a:lstStyle/>
          <a:p>
            <a:r>
              <a:rPr lang="en-US" b="1" u="sng" dirty="0"/>
              <a:t>Conclusion of Insights</a:t>
            </a:r>
          </a:p>
        </p:txBody>
      </p:sp>
      <p:sp>
        <p:nvSpPr>
          <p:cNvPr id="3" name="Content Placeholder 2">
            <a:extLst>
              <a:ext uri="{FF2B5EF4-FFF2-40B4-BE49-F238E27FC236}">
                <a16:creationId xmlns:a16="http://schemas.microsoft.com/office/drawing/2014/main" id="{C2E97C43-7A44-E2C7-7BEA-4AFCBED79862}"/>
              </a:ext>
            </a:extLst>
          </p:cNvPr>
          <p:cNvSpPr>
            <a:spLocks noGrp="1"/>
          </p:cNvSpPr>
          <p:nvPr>
            <p:ph idx="1"/>
          </p:nvPr>
        </p:nvSpPr>
        <p:spPr>
          <a:xfrm>
            <a:off x="838200" y="1131216"/>
            <a:ext cx="10515600" cy="5045747"/>
          </a:xfrm>
        </p:spPr>
        <p:txBody>
          <a:bodyPr/>
          <a:lstStyle/>
          <a:p>
            <a:r>
              <a:rPr lang="en-US" dirty="0"/>
              <a:t>The analysis demonstrates that while Nassau Candy Distributor achieves strong revenue performance, profitability is unevenly distributed across products and divisions. The presence of high-sales, low-margin products, combined with significant dependency on a limited number of profit drivers, highlights the need for strategic optimization.</a:t>
            </a:r>
          </a:p>
          <a:p>
            <a:r>
              <a:rPr lang="en-US" dirty="0"/>
              <a:t>By addressing these inefficiencies through pricing adjustments, cost management, and portfolio diversification, the organization can enhance profitability, reduce risk, and achieve sustainable growth.</a:t>
            </a:r>
          </a:p>
          <a:p>
            <a:pPr marL="0" indent="0">
              <a:buNone/>
            </a:pPr>
            <a:endParaRPr lang="en-US" dirty="0"/>
          </a:p>
        </p:txBody>
      </p:sp>
    </p:spTree>
    <p:extLst>
      <p:ext uri="{BB962C8B-B14F-4D97-AF65-F5344CB8AC3E}">
        <p14:creationId xmlns:p14="http://schemas.microsoft.com/office/powerpoint/2010/main" val="199651544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TotalTime>
  <Words>2996</Words>
  <Application>Microsoft Office PowerPoint</Application>
  <PresentationFormat>Widescreen</PresentationFormat>
  <Paragraphs>201</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Nassau Candy Distributor </vt:lpstr>
      <vt:lpstr>PowerPoint Presentation</vt:lpstr>
      <vt:lpstr>Analytical Methodology </vt:lpstr>
      <vt:lpstr> Product-Level Profitability Analysis </vt:lpstr>
      <vt:lpstr>Division-Level Performance Analysis </vt:lpstr>
      <vt:lpstr>Cost vs Margin Diagnostics</vt:lpstr>
      <vt:lpstr> Profit Concentration Analysis </vt:lpstr>
      <vt:lpstr>Dependency Indicator Analysis </vt:lpstr>
      <vt:lpstr>Key Performance Indicators (KPIs)  The analysis strictly adhered to the prescribed KPI framework, ensuring that all critical financial and operational indicators were calculated and interpreted systematically.</vt:lpstr>
      <vt:lpstr>Profit per Unit</vt:lpstr>
      <vt:lpstr>Revenue Contribution</vt:lpstr>
      <vt:lpstr>Profit Contribution</vt:lpstr>
      <vt:lpstr>Margin Volatility</vt:lpstr>
      <vt:lpstr>PowerPoint Presentation</vt:lpstr>
      <vt:lpstr>Profitability Metric Calculation – Product-Level Analysis</vt:lpstr>
      <vt:lpstr>Streamlit Dashboard Modules – Detailed Implementation and Insights </vt:lpstr>
      <vt:lpstr>Product Profitability Overview</vt:lpstr>
      <vt:lpstr>Division Performance Dashboard</vt:lpstr>
      <vt:lpstr>Cost vs Margin Diagnostics </vt:lpstr>
      <vt:lpstr>Cost vs Margin Diagnostics</vt:lpstr>
      <vt:lpstr>Profit Concentration Analysis</vt:lpstr>
      <vt:lpstr>User Capabilities The dashboard incorporates all prescribed interactive features to enhance usability and enable dynamic data exploration. These capabilities ensure that users can analyze the dataset from multiple perspectives without requiring technical expertise. </vt:lpstr>
      <vt:lpstr>FINAL CONSOLIDATED JUSTIFICATION</vt:lpstr>
      <vt:lpstr>Overall Analytical Justification</vt:lpstr>
      <vt:lpstr>Conclusion of Insights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dc:creator>
  <cp:lastModifiedBy>hi</cp:lastModifiedBy>
  <cp:revision>1</cp:revision>
  <dcterms:created xsi:type="dcterms:W3CDTF">2026-04-24T06:07:08Z</dcterms:created>
  <dcterms:modified xsi:type="dcterms:W3CDTF">2026-04-24T06:28:40Z</dcterms:modified>
</cp:coreProperties>
</file>